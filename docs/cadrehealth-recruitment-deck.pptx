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137160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CADREHEALTH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Healthcare Recruitment, Done Differently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Calibri"/>
              </a:rPr>
              <a:t>CadreHealth Recruitment, by Consult For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consultforafrica.com  |  oncadre.com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02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FOR HOSPITAL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Built for hospitals carrying clinical scarcity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3200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Your hiring funnel is leaking the wrong way. Senior staff abroad, junior CVs that overstate, and four week shortlists that arrive with two interested candidates.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This deck explains what we do, how we price it, and how we begin in the next two weeks if you decide to engage.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50992"/>
            <a:ext cx="1060704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Three engagement tiers. One platform. One partner.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03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HIRING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this conversation,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2697480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Calibri"/>
              </a:rPr>
              <a:t>16,156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Nigerian-trained nurses on the UK NMC register as of September 2025.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194560"/>
            <a:ext cx="2697480" cy="91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1F7A8C"/>
                </a:solidFill>
                <a:latin typeface="Calibri"/>
              </a:rPr>
              <a:t>57,000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nurses left for the UK alone over the last 5 years.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194560"/>
            <a:ext cx="2697480" cy="914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0B3C5D"/>
                </a:solidFill>
                <a:latin typeface="Calibri"/>
              </a:rPr>
              <a:t>42,000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nurses departed in 2022 to 2024. Nigeria is now the third largest source of foreign-trained UK nurses.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194560"/>
            <a:ext cx="269748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  <a:latin typeface="Calibri"/>
              </a:rPr>
              <a:t>8 to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weeks the average hospital loses recruiting each clinical replacement, often longer for specialists.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37760"/>
            <a:ext cx="11155680" cy="1371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The bottom of the funnel is leaking.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Every senior nurse who lands at Heathrow is one your competitor will also fail to replace. The hospitals that solve clinical scarcity first will win the next 24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COST OF VACANCY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04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QUIET DRAIN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an unfilled clinical role costs you each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11155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Specialist consultant vacancy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5M to 12M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Locum cover at 2 to 3x salary equivalent. Referral cases redirected to competing hospitals. Theatre and clinic capacity capped.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111556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Medical Officer vacancy in a 24/7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1.2M to 3M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Overtime on retained MOs. Patient throughput compressed. Junior doctor burnout accelerates and triggers further attrition.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11155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Senior Nurse or Dialysis Nurse vacancy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800k to 1.8M 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4340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Agency nurse premium plus higher error rates. Each empty chair in a dialysis centre is direct lost revenue at NGN 35k+ per session.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12080"/>
            <a:ext cx="111556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Compounding cost: one bad hire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18M to 40M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39496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Industry benchmark: 6 to 12 months of compensation. Recruiting, onboarding, severance, lost output, team morale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WHY CURRENT HIRING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05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your current hiring is not 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Inflated CVs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Generic job boards return CVs polished by an AI tool and a Lagos Whatsapp group. Verifying takes longer than sourcing.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Ghost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Two of every five shortlisted candidates stop replying after the first contact. Your HR team chases air.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Salary opacity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discover at offer stage that your band is 30% below market. The role reopens; another 4 weeks lost.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Credential ambiguity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MDCN and NMCN status is verified, if at all, after the interview. Forgeries surface only in incident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Diaspora ignored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consultants in the UK and US are open to remote retainer or fractional return. Almost no Nigerian agency reaches them well.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No retention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hire and hope. Three months later the candidate is gone and you start again. No data on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OUR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06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CadreHealth Recruitment, by Consult For Africa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Calibri"/>
              </a:rPr>
              <a:t>We are a healthcare-only recruitment service, built on top of the CadreHealth platform: a career platform for Nigerian healthcare professionals across 16 cadres.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When a hospital engages us, we are not searching the open internet on your behalf. We are matching your role against a registered, credentialed, salary-anchored network of doctors, nurses, pharmacists, and allied health professionals who have already declared their cadre, location, experience, and career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53949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539496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CadreHealth (oncadre.com)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Active members across 16 cadres. Real salary data, credential verification, hospital reviews, diaspora mentorship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206240"/>
            <a:ext cx="5394960" cy="21031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206240"/>
            <a:ext cx="539496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CadreHealth Recruitment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663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 For Africa's healthcare recruitment offering. Three engagement tiers, one platform, one accountable partner.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PLATFORM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07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PLATFORM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CadreHealth gives our recruitment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16 cadres in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Doctors, Nurses, Midwives, Pharmacists, Lab Scientists, Radiographers, Physiotherapists, Dentists, Optometrists, CHOs/CHEWs, and 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Real salary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Cadre-by-cadre, city-by-city, facility-tier-by-tier. We anchor your offer correctly before you start interviewing.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Credential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MDCN, NMCN, PCN, MLSCN status checked on-platform. Renewals and CPD tracked.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033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Hospital review intel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know which facilities haemorrhage staff. We screen candidates accordingly and brief you honestly.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Career Readiness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Cadre-specific score with separate UK, US, Canada, Gulf, and domestic dimensions. We can tell you who is staying versus leaving in 18 months.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Diaspora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Direct lines into MANSAG, ANPA, and Diaspora Friends Council. Real access to consultants in the UK, US, Canada open to fractional and full return.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THREE WAYS TO ENGAGE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08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ENGAGEMENT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Three ways to engage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3703320" cy="594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Pay-Per-Hire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Standard contingency. You only pay on placement.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ad-hoc clinical and operational hires. MOs, nurses, allied health, mid-level admin.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15% to 20% of first-year gross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103120"/>
            <a:ext cx="3703320" cy="594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Retainer (Engaged Search)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 commit a dedicated partner. You commit a small upfront.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Consultants, Heads of Department, C-suite, scarce specialties.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25% of first-year gross + NGN 500k retainer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2103120"/>
            <a:ext cx="3703320" cy="594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CadreHealth 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Annual subscription. Unlimited reach on the platform.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hospitals that prefer to self-recruit but want our network and infrastructure.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NGN 100,000 per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01 / PAY-PER-HIRE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09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STANDARD CONTINGENCY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1: Pay-Per-Hire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20% of first-year gross salary, before VAT.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Discounts: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18% if 3 or more same-role hires in one engagement (volume).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15% on a pilot engagement (first 3 hires for a new client).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15% if client also subscribes to CadreHealth Connect.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Floor: 15%. Never lower.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Out-of-pocket expenses (advertising, travel, paid verification) are billed at cost with pre-approval over NGN 50,000.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Verified shortlist of 3 to 5 candidates in 3 weeks.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Credential check (MDCN/NMCN/PCN/MLSCN as applicable).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Career Readiness profile and structured assessment notes.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Salary band confirmed before sourcing begins.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Reference checks on offer-stage candidates.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3-month replacement guarantee, voluntary resignations only.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Offer within 8 to 10 weeks of intake.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Bill on offer acceptance, NET 14 working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02 / RETAINER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FOR SCARCE OR STRATEGIC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2: Retainer (Engaged Search)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25% of first-year gross, before VAT.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0B3C5D"/>
                </a:solidFill>
                <a:latin typeface="Calibri"/>
              </a:rPr>
              <a:t>Upfront retainer: NGN 500,000.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Credited 100% against the placement fee. Not refundable if the client withdraws the role.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Use this tier for: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Consultants and Heads of Department.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Group CMO, COO, MD-level appointments.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Niche specialties: Nephrology, Oncology, Cardiothoracic, Neonatology, Anaesthesia subspecialties.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Dedicated CFA partner accountable for the search.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First shortlist of 3 named candidates in 2 weeks.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Offer within 4 to 6 weeks of intake.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Diaspora outreach activated where domestic supply is thin.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Discreet approach to passive candidates currently employed.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6-month replacement guarantee, voluntary resignations only.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Quarterly market intelligence brief for your specialty.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Retainer billed on kickoff, balance NET 14 from offer acceptance.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03 / CONNECT SUBSCRIPTION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ANNUAL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3: CadreHealth 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NGN 100,000 per year, before VAT.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Compare: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A single Jobberman Pro-Recruit listing in 2021 was NGN 129,000, before inflation. We give you unlimited postings for less than one of theirs.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Plus a curated shortlist from the CadreHealth network on every posting, which Jobberman does not include.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Loss-leader pricing on purpose. The subscription seeds the relationship; per-hire engagements follow.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Unlimited job postings on the CadreHealth job board for 12 months.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Verified employer profile with your hospital review surface.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Curated shortlist of the top 10 candidates from our network on every posting.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Quarterly market salary report for your cadres of interest.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5 percentage-point discount on any subsequent Tier 1 or Tier 2 engagement.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Branding placement in CadreHealth's monthly cadre newsletter.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Renewable; no auto-charge.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FIVE-STEP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How a CadreHealth recruitment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JD calibration, salary band confirmation, screening rubric agreed.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2 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Platform-first sourcing across registered cadre members; diaspora layer activated for retainer roles.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Shortlist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3 to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Credential checks, structured screening, Career Readiness assessment. We present 3 to 5 named candidates.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4 to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Structured competency interviews. Reference and credential re-verification on offer-stage candidates.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Offer &amp; 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6 to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Offer letter support, salary negotiation backed by market data, acceptance, replacement guarantee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QUALITY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QUALITY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makes our shortlists different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Credential checked, not claimed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Every shortlisted candidate has their MDCN, NMCN, PCN, or MLSCN status verified against the council register before they reach you. No exceptions.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Career Readiness scored, not guessed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use a cadre-specific scoring framework with separate domestic, UK, US, Canada and Gulf dimensions. You see which candidates are likely to stay 18 months versus the ones halfway to PLAB.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Hospital intel applied to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CadreHealth carries verified hospital reviews. We know which employers your candidates have worked for, how long, and why they left. That informs cultural-fit screening before you interview.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033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Two-stage technical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Specialty-specific screening competencies are signed off by a CFA clinical lead. You do not waste interview slots on candidates who cannot defend their CV.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Diaspora reach where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Through MANSAG, ANPA, and DFC, we surface Nigerian consultants abroad who are open to fractional, retainer, or full-return roles. Mostly for retainer-tier search.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Honest declines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When a search is genuinely hard, we tell you in week two, not week ten. Hard searches get a scope reset, a salary band revision, or a recommendation to move tier.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REPLACEMENT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 STAND BEHIND THE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Our replacement guarantee,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If a candidate we placed resigns voluntarily within the guarantee window, we re-recruit the role at no additional professional fee.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553212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553212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TIER 1 / PAY-PER-HIRE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51663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1">
                <a:solidFill>
                  <a:srgbClr val="0B3C5D"/>
                </a:solidFill>
                <a:latin typeface="Calibri"/>
              </a:rPr>
              <a:t>3-month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5166360" cy="2011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Counted from the candidate's start date. Free re-recruit for the same role. We commit the same SLA on the replacement search. Out-of-pocket expenses on the replacement are billed at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26080"/>
            <a:ext cx="5532120" cy="33832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26080"/>
            <a:ext cx="55321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44952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TIER 2 / RETAINER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51663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6-month guarantee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5166360" cy="2011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Counted from the candidate's start date. Free re-recruit for the same role on retained terms. Dedicated partner re-engaged. Reflects industry norms for senior, scarce searches.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HOW WE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CadreHealth Recruitment, versus the alternatives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Dimension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743200" cy="457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194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CadreHealth Recruitment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21031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194560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Traditional recruiter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2194560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Job board (Jobberman et al.)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95560" y="21031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2194560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LinkedIn DM blast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60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6334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Healthcare-specific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5603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6334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the whole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25603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2633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Sometimes, as one of many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5603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2633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No, generalist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5603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26334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No, generalist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0906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Credential verified pre-shortlist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0175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30906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every candidate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30175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090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Sometimes, varies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30175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3090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95560" y="30175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30906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474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5478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Real salary data anchored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34747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5478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by cadre and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2120" y="34747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35478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Anecdotal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4747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35478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34747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35478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9319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0050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Diaspora reach (UK / US / Canada)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88920" y="39319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360" y="40050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MANSAG / ANPA / DFC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32120" y="39319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40050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Rarely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39319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40050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95560" y="39319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7000" y="40050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Random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389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4622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Hospital review intelligence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43891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0360" y="44622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candidates and clients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32120" y="43891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23560" y="44622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43891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0" y="44622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95560" y="43891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87000" y="44622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8463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49194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Replacement guarantee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88920" y="48463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360" y="49194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3 to 6 months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2120" y="48463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23560" y="4919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Usually 3 months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63840" y="48463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55280" y="4919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95560" y="48463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87000" y="49194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53035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53766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Indicative cost per senior MO hire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88920" y="53035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80360" y="53766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NGN 720k to 960k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32120" y="53035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23560" y="5376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NGN 960k+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53035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55280" y="5376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NGN 15k to 129k per post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95560" y="53035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87000" y="53766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Free, plus your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PILOT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LOW-RISK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 first-engagement pilot for new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We discount the first engagement so you can test the model on real roles, with real candidates, before committing to a full SLA.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3464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15% on your first 3 hires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5351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Down from 20% standard. Applies to Tier 1 Pay-Per-Hire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7472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Free CadreHealth Connect for 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59359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NGN 100,000 subscription value. Unlimited job board postings included.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3367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NET 30 payment terms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3367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Stretched from NET 14 to give your finance team comfort on a new vendor.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7375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Quarterly partnership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87375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 sit down at month 3 and month 6 to recalibrate roles, salary bands, and SLA.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9496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39496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1383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Locked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51383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Pilot pricing is held for any engagement signed in 2026, even if standard rates move.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COMMERCIAL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17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FINE PRINT, EARLY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Commercial terms, on one slide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All quoted fees are exclusive of VAT (7.5%).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Out-of-pocket 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Verified credential pulls, paid advertising, candidate travel are billed at cost. Anything over NGN 50,000 requires pre-approval.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0040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NET 14 working days from offer acceptance, or NET 30 under the pilot. Late payment carries 1.5% monthly interest, not daily.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Replacement guarantee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0332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Free re-recruit if the candidate resigns voluntarily within 3 months (Tier 1) or 6 months (Tier 2). Termination by the client and constructive dismissal are out of scope.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Withdrawal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0624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If you withdraw a role mid-search for reasons other than our non-delivery, a compensation fee of 50% of the would-be placement fee applies. Industry standard, mirrors what your peers pay.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1772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Exclusivity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0916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Per role, for the duration of the engagement. You agree not to run a parallel agency on the same vacancy.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2064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Data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21208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hold candidate data under the Nigeria Data Protection Regulation. Data is residency-aware, retention is per NDPR plus your preference.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Governing law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71500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Federal Republic of Nigeria.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ONBOARDING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18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ONBOARDING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From signed SLA to first shortlist in 4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2240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SLA signed. Roles and tier selected.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2103120"/>
            <a:ext cx="2240280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Kickoff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Calibration call with HR and clinical lead. Screening rubric agreed. Salary band confirmed.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2103120"/>
            <a:ext cx="2240280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Sourcing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Platform-first sourcing across registered cadre members. Diaspora outreach for retainer roles.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0" y="2103120"/>
            <a:ext cx="22402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First shortlist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3 to 5 named candidates with verified credentials, structured assessment notes, and salary expectations.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2103120"/>
            <a:ext cx="2240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4 to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Interviews and 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Structured competency interviews. Reference checks. Offer drafted and supported. Acceptance.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ABOUT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19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CREDIBILITY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About Consult For Africa and CadreHealth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CONSULT FOR 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Healthcare management consulting firm operating across Africa.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Founded by Dr Debo Odulana. Engagements span hospital turnaround, clinical governance, fractional leadership, and health systems strengthening.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Active client portfolio: Cooked Indoors, Covally, Connexxum, Cureva, with discovery underway at Priscilla Specialist Hospital.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consultforafrica.com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CADREHEALTH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Career platform for Nigerian healthcare professionals.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Sixteen cadres covered. Real salary data, verified credentials, hospital reviews, diaspora layer through MANSAG, ANPA, and DFC.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Maintained by Consult For Africa. The platform that powers our recruitment service is the same platform doctors, nurses, pharmacists, and allied health professionals use to manage their careers.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D4AF37"/>
                </a:solidFill>
                <a:latin typeface="Calibri"/>
              </a:rPr>
              <a:t>oncadre.com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20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HAPPENS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This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1945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3134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Confirm intent and select an engagement tier.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Next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8803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9992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Kickoff call. We agree open roles and screening criteria.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850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5661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6850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First role intake. JD calibration and salary band confirmed.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519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708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5 to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42519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3708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First shortlist delivered.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795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Dr Debo Odulana, Founding Partner  /  debo.odulana@consultforafrica.com  /  +234 913 813 8553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APPENDIX / SAMPLE SHORTLIST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21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a delivered shortlist looks 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5544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Candidate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194560"/>
            <a:ext cx="20116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31343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Cadre / Specialty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2194560"/>
            <a:ext cx="118872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1343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2194560"/>
            <a:ext cx="182880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31343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Credential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2194560"/>
            <a:ext cx="118872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31343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Readiness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194560"/>
            <a:ext cx="3383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31343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9748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1635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6974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281635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Medical Officer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81635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4 yrs post-NYSC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69748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281635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verified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81635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78 / 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69748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81635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Oncology rotation at LASUTH, EMR proficient.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200400"/>
            <a:ext cx="15544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31927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200400"/>
            <a:ext cx="2011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331927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Medical Officer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320040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31927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3 yrs post-NYSC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3200400"/>
            <a:ext cx="182880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331927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verified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320040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31927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71 / 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200400"/>
            <a:ext cx="33832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31927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Internal medicine background, oncology exposure via fellowship.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70332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82219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7033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40" y="382219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Dialysis Nurse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382219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 yrs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37033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9240" y="382219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NMCN verified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382219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82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370332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382219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Renal experience at private dialysis centre, BLS current.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206240"/>
            <a:ext cx="15544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32511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4206240"/>
            <a:ext cx="2011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48840" y="432511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Consultant Nephrologist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69080" y="420624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0520" y="432511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12 yrs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206240"/>
            <a:ext cx="182880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432511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consultant register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6600" y="420624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78040" y="432511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85 / 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206240"/>
            <a:ext cx="33832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432511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Available for fractional retainer; based in Lagos.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Each shortlisted candidate ships with: verified credential, structured assessment, Career Readiness score, salary expectations, references on offer-stage candidates.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APPENDIX / NDPR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22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Data protection,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Lawful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Candidates register with CadreHealth and consent to their data being processed for recruitment matching. Hospital clients are introduced under a separate processor agreement.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Residency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8036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 data is hosted in a Nigeria-region cloud where available, with backups in compliant jurisdictions.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8328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7472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Active candidate data is retained for the duration of platform membership. Hospital-client data is retained per the signed SLA and NDPR defaults.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6908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share candidate data with hospital clients only after explicit candidate consent for that specific role.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Subject rights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6344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Candidates retain full access, correction, and erasure rights under NDPR.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6636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Breach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25780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Any incident is reported to the affected parties and the Nigeria Data Protection Commission within 72 hours, per regulation.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