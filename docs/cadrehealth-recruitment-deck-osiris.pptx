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103120"/>
            <a:ext cx="137160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9144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CADREHEALTH RECRUITMENT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1155680" cy="21031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A Recruitment &amp; Partnership Proposal for</a:t>
            </a:r>
          </a:p>
          <a:p>
            <a:pPr algn="l">
              <a:spcBef>
                <a:spcPts val="0"/>
              </a:spcBef>
            </a:pPr>
            <a:r>
              <a:rPr sz="4200" b="1">
                <a:solidFill>
                  <a:srgbClr val="FFFFFF"/>
                </a:solidFill>
                <a:latin typeface="Calibri"/>
              </a:rPr>
              <a:t>Osiris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  <a:latin typeface="Calibri"/>
              </a:rPr>
              <a:t>Prepared by Consult For Africa,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consultforafrica.com  |  oncadre.com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FOR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02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FOR OSIRIS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A multi-site dialysis operator hiring across four cadres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1155680" cy="32004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Osiris Health, manager of Life Support Medical Centre, is one of Nigeria's earliest renal care providers. With the recent R-Jolad collaboration and active expansion across Lagos, Ibadan, and Warri, your hiring problem is no longer single-role; it is a multi-cadre, multi-site clinical scaling exercise.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Your current open positions span Operations Manager, Consultant Nephrologist, Medical Officers, and Dialysis Nurses across three cities. That mix needs more than a contingency recruiter. It needs a partner who can hold the retainer-tier search for the Consultant role while delivering volume on the nursing side.</a:t>
            </a:r>
          </a:p>
          <a:p>
            <a:pPr algn="l">
              <a:spcBef>
                <a:spcPts val="12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We are proposing a hybrid engagement that prices each role correctly, plus a parallel partnership conversation that reflects what you have signalled to 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486400"/>
            <a:ext cx="11155680" cy="7772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650992"/>
            <a:ext cx="1060704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D4AF37"/>
                </a:solidFill>
                <a:latin typeface="Calibri"/>
              </a:rPr>
              <a:t>Hybrid engagement: retainer for the Consultant, volume pricing for nursing, partnership track in parallel.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03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HIRING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Why this conversation, 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2697480" cy="2331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94560"/>
            <a:ext cx="2697480" cy="91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68880"/>
            <a:ext cx="233172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600" b="1">
                <a:solidFill>
                  <a:srgbClr val="D4AF37"/>
                </a:solidFill>
                <a:latin typeface="Calibri"/>
              </a:rPr>
              <a:t>16,156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2331720" cy="10058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Nigerian-trained nurses on the UK NMC register as of September 2025.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194560"/>
            <a:ext cx="2697480" cy="2331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194560"/>
            <a:ext cx="2697480" cy="9144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33172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600" b="1">
                <a:solidFill>
                  <a:srgbClr val="1F7A8C"/>
                </a:solidFill>
                <a:latin typeface="Calibri"/>
              </a:rPr>
              <a:t>57,000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429000"/>
            <a:ext cx="2331720" cy="10058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Nigerian nurses left for the UK alone over the last 5 years.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194560"/>
            <a:ext cx="2697480" cy="2331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194560"/>
            <a:ext cx="2697480" cy="914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468880"/>
            <a:ext cx="233172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600" b="1">
                <a:solidFill>
                  <a:srgbClr val="0B3C5D"/>
                </a:solidFill>
                <a:latin typeface="Calibri"/>
              </a:rPr>
              <a:t>42,000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29000"/>
            <a:ext cx="2331720" cy="10058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Nigerian nurses departed in 2022 to 2024. Nigeria is now the third largest source of foreign-trained UK nurses.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2194560"/>
            <a:ext cx="2697480" cy="23317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2194560"/>
            <a:ext cx="2697480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468880"/>
            <a:ext cx="233172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600" b="1">
                <a:solidFill>
                  <a:srgbClr val="C0392B"/>
                </a:solidFill>
                <a:latin typeface="Calibri"/>
              </a:rPr>
              <a:t>8 to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429000"/>
            <a:ext cx="2331720" cy="10058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weeks the average hospital loses recruiting each clinical replacement, often longer for specialists.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937760"/>
            <a:ext cx="11155680" cy="1371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The bottom of the funnel is leaking.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111827"/>
                </a:solidFill>
                <a:latin typeface="Calibri"/>
              </a:rPr>
              <a:t>Every senior nurse who lands at Heathrow is one your competitor will also fail to replace. The hospitals that solve clinical scarcity first will win the next 24 months.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COST OF VACANCY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04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QUIET DRAIN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What an unfilled clinical role costs you each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57400"/>
            <a:ext cx="11155680" cy="960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420624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Specialist consultant vacancy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420624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NGN 5M to 12M per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240280"/>
            <a:ext cx="640080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Locum cover at 2 to 3x salary equivalent. Referral cases redirected to competing hospitals. Theatre and clinic capacity capped.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08960"/>
            <a:ext cx="1115568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420624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Medical Officer vacancy in a 24/7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20440"/>
            <a:ext cx="420624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NGN 1.2M to 3M per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91840"/>
            <a:ext cx="640080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Overtime on retained MOs. Patient throughput compressed. Junior doctor burnout accelerates and triggers further attrition.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11155680" cy="960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51960"/>
            <a:ext cx="420624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Senior Nurse or Dialysis Nurse vacancy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420624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NGN 800k to 1.8M per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343400"/>
            <a:ext cx="640080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Agency nurse premium plus higher error rates. Each empty chair in a dialysis centre is direct lost revenue at NGN 35k+ per session.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212080"/>
            <a:ext cx="1115568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4206240" cy="3200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Compounding cost: one bad hire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23560"/>
            <a:ext cx="420624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NGN 18M to 40M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394960"/>
            <a:ext cx="640080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Industry benchmark: 6 to 12 months of compensation. Recruiting, onboarding, severance, lost output, team morale recovery.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WHY CURRENT HIRING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05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Why your current hiring is not working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Inflated CVs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8892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Generic job boards return CVs polished by an AI tool and a Lagos Whatsapp group. Verifying takes longer than sourcing.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10312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10312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2860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Ghost candidates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8892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Two of every five shortlisted candidates stop replying after the first contact. Your HR team chases air.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80" y="210312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210312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2860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Salary opacity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78892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You discover at offer stage that your band is 30% below market. The role reopens; another 4 weeks lost.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0624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38912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Credential ambiguity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MDCN and NMCN status is verified, if at all, after the interview. Forgeries surface only in incident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20624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20624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38912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Diaspora ignored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89204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Nigerian consultants in the UK and US are open to remote retainer or fractional return. Almost no Nigerian agency reaches them well.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80" y="4206240"/>
            <a:ext cx="3703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80" y="4206240"/>
            <a:ext cx="370332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38912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500" b="1">
                <a:solidFill>
                  <a:srgbClr val="0B3C5D"/>
                </a:solidFill>
                <a:latin typeface="Calibri"/>
              </a:rPr>
              <a:t>No retention 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89204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You hire and hope. Three months later the candidate is gone and you start again. No data on why.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OUR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06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WE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CadreHealth Recruitment, by Consult For Africa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1155680" cy="1645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Calibri"/>
              </a:rPr>
              <a:t>We are a healthcare-only recruitment service, built on top of the CadreHealth platform: a career platform for Nigerian healthcare professionals across 16 cadres.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When a hospital engages us, we are not searching the open internet on your behalf. We are matching your role against a registered, credentialed, salary-anchored network of doctors, nurses, pharmacists, and allied health professionals who have already declared their cadre, location, experience, and career intent.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06240"/>
            <a:ext cx="5394960" cy="2103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206240"/>
            <a:ext cx="539496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5029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5029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CadreHealth (oncadre.com)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166360"/>
            <a:ext cx="502920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Active members across 16 cadres. Real salary data, credential verification, hospital reviews, diaspora mentorship 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206240"/>
            <a:ext cx="5394960" cy="21031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206240"/>
            <a:ext cx="5394960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389120"/>
            <a:ext cx="5029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754880"/>
            <a:ext cx="5029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CadreHealth Recruitment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166360"/>
            <a:ext cx="502920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Consult For Africa's healthcare recruitment offering. Three engagement tiers, one platform, one accountable partner.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PLATFORM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07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PLATFORM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What CadreHealth gives our recruitment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16 cadres in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Doctors, Nurses, Midwives, Pharmacists, Lab Scientists, Radiographers, Physiotherapists, Dentists, Optometrists, CHOs/CHEWs, and 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1031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1031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Real salary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Cadre-by-cadre, city-by-city, facility-tier-by-tier. We anchor your offer correctly before you start interviewing.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033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Credential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MDCN, NMCN, PCN, MLSCN status checked on-platform. Renewals and CPD tracked.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7033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7033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Hospital review intel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519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We know which facilities haemorrhage staff. We screen candidates accordingly and brief you honestly.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3035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3035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406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Career Readiness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Cadre-specific score with separate UK, US, Canada, Gulf, and domestic dimensions. We can tell you who is staying versus leaving in 18 months.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53035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5303520"/>
            <a:ext cx="73152" cy="1417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4406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Diaspora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8521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Direct lines into MANSAG, ANPA, and Diaspora Friends Council. Real access to consultants in the UK, US, Canada open to fractional and full return.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THREE WAYS TO ENGAGE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08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ENGAGEMENT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Three ways to engage 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70332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3703320" cy="5943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21992"/>
            <a:ext cx="33375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Pay-Per-Hire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333756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Standard contingency. You only pay on placement.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Best for: ad-hoc clinical and operational hires. MOs, nurses, allied health, mid-level admin.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349240"/>
            <a:ext cx="370332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864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15% to 20% of first-year gross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103120"/>
            <a:ext cx="370332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2103120"/>
            <a:ext cx="3703320" cy="59436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221992"/>
            <a:ext cx="33375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8036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Retainer (Engaged Search)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429000"/>
            <a:ext cx="333756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We commit a dedicated partner. You commit a small upfront.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9768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Best for: Consultants, Heads of Department, C-suite, scarce specialties.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5349240"/>
            <a:ext cx="370332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54864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25% of first-year gross + NGN 500k retainer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2103120"/>
            <a:ext cx="370332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80" y="2103120"/>
            <a:ext cx="3703320" cy="59436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221992"/>
            <a:ext cx="33375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TIER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88036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800" b="1">
                <a:solidFill>
                  <a:srgbClr val="0B3C5D"/>
                </a:solidFill>
                <a:latin typeface="Calibri"/>
              </a:rPr>
              <a:t>CadreHealth Connect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429000"/>
            <a:ext cx="3337560" cy="7315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Annual subscription. Unlimited reach on the platform.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297680"/>
            <a:ext cx="3337560" cy="1097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Best for: hospitals that prefer to self-recruit but want our network and infrastructure.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80" y="5349240"/>
            <a:ext cx="3703320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5486400"/>
            <a:ext cx="33375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NGN 100,000 per year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TIER 01 / PAY-PER-HIRE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09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STANDARD CONTINGENCY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Tier 1: Pay-Per-Hire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486400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IT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20% of first-year gross salary, before VAT.</a:t>
            </a:r>
          </a:p>
          <a:p>
            <a:pPr algn="l">
              <a:spcBef>
                <a:spcPts val="1400"/>
              </a:spcBef>
            </a:pPr>
            <a:r>
              <a:rPr sz="1200" b="1">
                <a:solidFill>
                  <a:srgbClr val="111827"/>
                </a:solidFill>
                <a:latin typeface="Calibri"/>
              </a:rPr>
              <a:t>Discounts: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18% if 3 or more same-role hires in one engagement (volume).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15% on a pilot engagement (first 3 hires for a new client).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15% if client also subscribes to CadreHealth Connect.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Floor: 15%. Never lower.</a:t>
            </a:r>
          </a:p>
          <a:p>
            <a:pPr algn="l">
              <a:spcBef>
                <a:spcPts val="1400"/>
              </a:spcBef>
            </a:pPr>
            <a:r>
              <a:rPr sz="1100" b="0">
                <a:solidFill>
                  <a:srgbClr val="6B7280"/>
                </a:solidFill>
                <a:latin typeface="Calibri"/>
              </a:rPr>
              <a:t>Out-of-pocket expenses (advertising, travel, paid verification) are billed at cost with pre-approval over NGN 50,000.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03120"/>
            <a:ext cx="5486400" cy="41148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YOU 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 Verified shortlist of 3 to 5 candidates in 3 weeks.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Credential check (MDCN/NMCN/PCN/MLSCN as applicable).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Career Readiness profile and structured assessment notes.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Salary band confirmed before sourcing begins.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Reference checks on offer-stage candidates.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3-month replacement guarantee, voluntary resignations only.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Offer within 8 to 10 weeks of intake.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Bill on offer acceptance, NET 14 working days.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TIER 02 / RETAINER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10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FOR SCARCE OR STRATEGIC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Tier 2: Retainer (Engaged Search)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486400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Calibri"/>
              </a:rPr>
              <a:t>WHAT IT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25% of first-year gross, before VAT.</a:t>
            </a:r>
          </a:p>
          <a:p>
            <a:pPr algn="l">
              <a:spcBef>
                <a:spcPts val="1000"/>
              </a:spcBef>
            </a:pPr>
            <a:r>
              <a:rPr sz="1300" b="1">
                <a:solidFill>
                  <a:srgbClr val="0B3C5D"/>
                </a:solidFill>
                <a:latin typeface="Calibri"/>
              </a:rPr>
              <a:t>Upfront retainer: NGN 500,000.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6B7280"/>
                </a:solidFill>
                <a:latin typeface="Calibri"/>
              </a:rPr>
              <a:t>Credited 100% against the placement fee. Not refundable if the client withdraws the role.</a:t>
            </a:r>
          </a:p>
          <a:p>
            <a:pPr algn="l">
              <a:spcBef>
                <a:spcPts val="1400"/>
              </a:spcBef>
            </a:pPr>
            <a:r>
              <a:rPr sz="1200" b="1">
                <a:solidFill>
                  <a:srgbClr val="111827"/>
                </a:solidFill>
                <a:latin typeface="Calibri"/>
              </a:rPr>
              <a:t>Use this tier for: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Consultants and Heads of Department.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Group CMO, COO, MD-level appointments.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Niche specialties: Nephrology, Oncology, Cardiothoracic, Neonatology, Anaesthesia subspecialties.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03120"/>
            <a:ext cx="5486400" cy="41148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YOU 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 Dedicated CFA partner accountable for the search.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First shortlist of 3 named candidates in 2 weeks.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Offer within 4 to 6 weeks of intake.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Diaspora outreach activated where domestic supply is thin.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Discreet approach to passive candidates currently employed.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6-month replacement guarantee, voluntary resignations only.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Quarterly market intelligence brief for your specialty.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Retainer billed on kickoff, balance NET 14 from offer acceptance.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TIER 03 / CONNECT SUBSCRIPTION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11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ANNUAL SUBSCRIPTION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Tier 3: CadreHealth Connect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486400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IT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NGN 100,000 per year, before VAT.</a:t>
            </a:r>
          </a:p>
          <a:p>
            <a:pPr algn="l">
              <a:spcBef>
                <a:spcPts val="1400"/>
              </a:spcBef>
            </a:pPr>
            <a:r>
              <a:rPr sz="1200" b="1">
                <a:solidFill>
                  <a:srgbClr val="111827"/>
                </a:solidFill>
                <a:latin typeface="Calibri"/>
              </a:rPr>
              <a:t>Compare: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A single Jobberman Pro-Recruit listing in 2021 was NGN 129,000, before inflation. We give you unlimited postings for less than one of theirs.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11827"/>
                </a:solidFill>
                <a:latin typeface="Calibri"/>
              </a:rPr>
              <a:t>•  Plus a curated shortlist from the CadreHealth network on every posting, which Jobberman does not include.</a:t>
            </a:r>
          </a:p>
          <a:p>
            <a:pPr algn="l">
              <a:spcBef>
                <a:spcPts val="1400"/>
              </a:spcBef>
            </a:pPr>
            <a:r>
              <a:rPr sz="1100" b="0">
                <a:solidFill>
                  <a:srgbClr val="6B7280"/>
                </a:solidFill>
                <a:latin typeface="Calibri"/>
              </a:rPr>
              <a:t>Loss-leader pricing on purpose. The subscription seeds the relationship; per-hire engagements follow.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03120"/>
            <a:ext cx="5486400" cy="41148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YOU 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 Unlimited job postings on the CadreHealth job board for 12 months.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Verified employer profile with your hospital review surface.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Curated shortlist of the top 10 candidates from our network on every posting.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Quarterly market salary report for your cadres of interest.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5 percentage-point discount on any subsequent Tier 1 or Tier 2 engagement.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Branding placement in CadreHealth's monthly cadre newsletter.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•  Renewable; no auto-charge.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12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FIVE-STEP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How a CadreHealth recruitment runs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22402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40280"/>
            <a:ext cx="18745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Intake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Week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1874520" cy="1965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JD calibration, salary band confirmation, screening rubric agreed.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40" y="2103120"/>
            <a:ext cx="22402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2240280"/>
            <a:ext cx="18745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88036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29184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Week 2 to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703320"/>
            <a:ext cx="1874520" cy="1965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Platform-first sourcing across registered cadre members; diaspora layer activated for retainer roles.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66360" y="2103120"/>
            <a:ext cx="22402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240280"/>
            <a:ext cx="18745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88036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Shortlist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29184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Week 3 to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703320"/>
            <a:ext cx="1874520" cy="1965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Credential checks, structured screening, Career Readiness assessment. We present 3 to 5 named candidates.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80" y="2103120"/>
            <a:ext cx="22402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2240280"/>
            <a:ext cx="18745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288036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Assess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29184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Week 4 to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703320"/>
            <a:ext cx="1874520" cy="1965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Structured competency interviews. Reference and credential re-verification on offer-stage candidates.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80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29800" y="2103120"/>
            <a:ext cx="22402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12680" y="2240280"/>
            <a:ext cx="18745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288036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Offer &amp; Close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3291840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Week 6 to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3703320"/>
            <a:ext cx="1874520" cy="1965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Offer letter support, salary negotiation backed by market data, acceptance, replacement guarantee live.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QUALITY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13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QUALITY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What makes our shortlists different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Credential checked, not claimed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Every shortlisted candidate has their MDCN, NMCN, PCN, or MLSCN status verified against the council register before they reach you. No exceptions.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1031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1031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Career Readiness scored, not guessed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We use a cadre-specific scoring framework with separate domestic, UK, US, Canada and Gulf dimensions. You see which candidates are likely to stay 18 months versus the ones halfway to PLAB.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033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Hospital intel applied to 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CadreHealth carries verified hospital reviews. We know which employers your candidates have worked for, how long, and why they left. That informs cultural-fit screening before you interview.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7033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7033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Two-stage technical screen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519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Specialty-specific screening competencies are signed off by a CFA clinical lead. You do not waste interview slots on candidates who cannot defend their CV.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3035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3035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406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Diaspora reach where it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Through MANSAG, ANPA, and DFC, we surface Nigerian consultants abroad who are open to fractional, retainer, or full-return roles. Mostly for retainer-tier search.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5303520"/>
            <a:ext cx="5532120" cy="1417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5303520"/>
            <a:ext cx="73152" cy="1417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440680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Honest declines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852160"/>
            <a:ext cx="5166360" cy="7772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When a search is genuinely hard, we tell you in week two, not week ten. Hard searches get a scope reset, a salary band revision, or a recommendation to move tier.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REPLACEMENT GUARANTEE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14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WE STAND BEHIND THE HIRE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Our replacement guarantee, in plain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115568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If a candidate we placed resigns voluntarily within the guarantee window, we re-recruit the role at no additional professional fee.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26080"/>
            <a:ext cx="5532120" cy="33832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26080"/>
            <a:ext cx="553212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TIER 1 / PAY-PER-HIRE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51663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000" b="1">
                <a:solidFill>
                  <a:srgbClr val="0B3C5D"/>
                </a:solidFill>
                <a:latin typeface="Calibri"/>
              </a:rPr>
              <a:t>3-month guarantee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5166360" cy="20116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Counted from the candidate's start date. Free re-recruit for the same role. We commit the same SLA on the replacement search. Out-of-pocket expenses on the replacement are billed at cost.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926080"/>
            <a:ext cx="5532120" cy="33832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926080"/>
            <a:ext cx="5532120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44952"/>
            <a:ext cx="5166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TIER 2 / RETAINER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03320"/>
            <a:ext cx="516636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6-month guarantee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51960"/>
            <a:ext cx="5166360" cy="20116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Counted from the candidate's start date. Free re-recruit for the same role on retained terms. Dedicated partner re-engaged. Reflects industry norms for senior, scarce searches.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HOW WE COMPARE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15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Why CadreHealth Recruitment, versus the alternatives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22860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Dimension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2103120"/>
            <a:ext cx="2743200" cy="4572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194560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CadreHealth Recruitment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21031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194560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Traditional recruiter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1031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2194560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Job board (Jobberman et al.)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95560" y="2103120"/>
            <a:ext cx="1828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2194560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0B3C5D"/>
                </a:solidFill>
                <a:latin typeface="Calibri"/>
              </a:rPr>
              <a:t>LinkedIn DM blast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5603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6334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Healthcare-specific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25603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26334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Yes, the whole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2120" y="25603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60" y="26334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Sometimes, as one of many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5603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26334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No, generalist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95560" y="25603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7000" y="26334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No, generalist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017520"/>
            <a:ext cx="22860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0906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Credential verified pre-shortlist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20" y="30175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360" y="30906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Yes, every candidate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30175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30906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Sometimes, varies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30175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0" y="30906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95560" y="3017520"/>
            <a:ext cx="1828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7000" y="30906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4747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5478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Real salary data anchored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88920" y="34747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60" y="35478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Yes, by cadre and city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32120" y="34747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23560" y="35478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Anecdotal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34747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55280" y="35478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95560" y="34747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87000" y="35478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3931920"/>
            <a:ext cx="22860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40050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Diaspora reach (UK / US / Canada)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88920" y="39319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80360" y="40050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Yes, MANSAG / ANPA / DFC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32120" y="39319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23560" y="40050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Rarely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39319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0" y="40050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95560" y="3931920"/>
            <a:ext cx="1828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87000" y="40050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Random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3891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44622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Hospital review intelligence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88920" y="43891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80360" y="44622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Yes, candidates and clients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32120" y="43891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23560" y="44622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63840" y="43891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55280" y="44622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195560" y="43891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287000" y="44622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2920" y="4846320"/>
            <a:ext cx="22860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" y="49194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Replacement guarantee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88920" y="48463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80360" y="49194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3 to 6 months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32120" y="48463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23560" y="49194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Usually 3 months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63840" y="4846320"/>
            <a:ext cx="233172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55280" y="49194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None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195560" y="4846320"/>
            <a:ext cx="1828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287000" y="49194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None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530352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4360" y="5376672"/>
            <a:ext cx="21031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Indicative cost per senior MO hire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88920" y="5303520"/>
            <a:ext cx="2743200" cy="457200"/>
          </a:xfrm>
          <a:prstGeom prst="rect">
            <a:avLst/>
          </a:prstGeom>
          <a:solidFill>
            <a:srgbClr val="FC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880360" y="5376672"/>
            <a:ext cx="25603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NGN 720k to 960k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32120" y="53035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623560" y="53766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NGN 960k+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63840" y="5303520"/>
            <a:ext cx="2331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955280" y="5376672"/>
            <a:ext cx="214884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NGN 15k to 129k per post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95560" y="530352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287000" y="5376672"/>
            <a:ext cx="16459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Free, plus your 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PILOT OFFER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16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LOW-RISK 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A first-engagement pilot for new 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1155680" cy="5486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We discount the first engagement so you can test the model on real roles, with real candidates, before committing to a full SLA.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34640"/>
            <a:ext cx="1115568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834640"/>
            <a:ext cx="73152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53512"/>
            <a:ext cx="4114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15% on your first 3 hires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953512"/>
            <a:ext cx="6583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Down from 20% standard. Applies to Tier 1 Pay-Per-Hire 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74720"/>
            <a:ext cx="11155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74720"/>
            <a:ext cx="73152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93592"/>
            <a:ext cx="4114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Free CadreHealth Connect for year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593592"/>
            <a:ext cx="6583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NGN 100,000 subscription value. Unlimited job board postings included.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14800"/>
            <a:ext cx="1115568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114800"/>
            <a:ext cx="73152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33672"/>
            <a:ext cx="4114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NET 30 payment terms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233672"/>
            <a:ext cx="6583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Stretched from NET 14 to give your finance team comfort on a new vendor.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754880"/>
            <a:ext cx="73152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73752"/>
            <a:ext cx="4114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Quarterly partnership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873752"/>
            <a:ext cx="6583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We sit down at month 3 and month 6 to recalibrate roles, salary bands, and SLA.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394960"/>
            <a:ext cx="1115568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394960"/>
            <a:ext cx="73152" cy="5486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513832"/>
            <a:ext cx="4114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Locked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513832"/>
            <a:ext cx="6583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Pilot pricing is held for any engagement signed in 2026, even if standard rates move.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COMMERCIAL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17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THE FINE PRINT, EARLY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Commercial terms, on one slide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11155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Fees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9456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All quoted fees are exclusive of VAT (7.5%).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06040"/>
            <a:ext cx="11155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Out-of-pocket expenses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Verified credential pulls, paid advertising, candidate travel are billed at cost. Anything over NGN 50,000 requires pre-approval.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08960"/>
            <a:ext cx="11155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20040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NET 14 working days from offer acceptance, or NET 30 under the pilot. Late payment carries 1.5% monthly interest, not daily.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11880"/>
            <a:ext cx="11155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Replacement guarantee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70332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Free re-recruit if the candidate resigns voluntarily within 3 months (Tier 1) or 6 months (Tier 2). Termination by the client and constructive dismissal are out of scope.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114800"/>
            <a:ext cx="11155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Withdrawal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20624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If you withdraw a role mid-search for reasons other than our non-delivery, a compensation fee of 50% of the would-be placement fee applies. Industry standard, mirrors what your peers pay.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17720"/>
            <a:ext cx="11155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0916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Exclusivity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0916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Per role, for the duration of the engagement. You agree not to run a parallel agency on the same vacancy.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120640"/>
            <a:ext cx="11155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Data protection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21208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We hold candidate data under the Nigeria Data Protection Regulation. Data is residency-aware, retention is per NDPR plus your preference.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623560"/>
            <a:ext cx="11155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715000"/>
            <a:ext cx="2743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Governing law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715000"/>
            <a:ext cx="7772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Federal Republic of Nigeria.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ONBOARDING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18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ONBOARDING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From signed SLA to first shortlist in 4 weeks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224028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21992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187452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1874520" cy="23774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SLA signed. Roles and tier selected.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4640" y="2103120"/>
            <a:ext cx="2240280" cy="5029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2221992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788920"/>
            <a:ext cx="187452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Kickoff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291840"/>
            <a:ext cx="1874520" cy="23774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Calibration call with HR and clinical lead. Screening rubric agreed. Salary band confirmed.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60" y="2103120"/>
            <a:ext cx="2240280" cy="5029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2221992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788920"/>
            <a:ext cx="187452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Sourcing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291840"/>
            <a:ext cx="1874520" cy="23774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Platform-first sourcing across registered cadre members. Diaspora outreach for retainer roles.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0" y="2103120"/>
            <a:ext cx="22402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2221992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788920"/>
            <a:ext cx="187452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First shortlist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291840"/>
            <a:ext cx="1874520" cy="23774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3 to 5 named candidates with verified credentials, structured assessment notes, and salary expectations.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2103120"/>
            <a:ext cx="224028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29800" y="2103120"/>
            <a:ext cx="224028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2221992"/>
            <a:ext cx="187452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WEEK 4 to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788920"/>
            <a:ext cx="187452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600" b="1">
                <a:solidFill>
                  <a:srgbClr val="0B3C5D"/>
                </a:solidFill>
                <a:latin typeface="Calibri"/>
              </a:rPr>
              <a:t>Interviews and offer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3291840"/>
            <a:ext cx="1874520" cy="237744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Structured competency interviews. Reference checks. Offer drafted and supported. Acceptance.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ABOUT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19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CREDIBILITY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About Consult For Africa and CadreHealth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5486400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CONSULT FOR 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0B3C5D"/>
                </a:solidFill>
                <a:latin typeface="Calibri"/>
              </a:rPr>
              <a:t>Healthcare management consulting firm operating across Africa.</a:t>
            </a:r>
          </a:p>
          <a:p>
            <a:pPr algn="l">
              <a:spcBef>
                <a:spcPts val="1200"/>
              </a:spcBef>
            </a:pPr>
            <a:r>
              <a:rPr sz="1200" b="0">
                <a:solidFill>
                  <a:srgbClr val="111827"/>
                </a:solidFill>
                <a:latin typeface="Calibri"/>
              </a:rPr>
              <a:t>Founded by Dr Debo Odulana. Engagements span hospital turnaround, clinical governance, fractional leadership, and health systems strengthening.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111827"/>
                </a:solidFill>
                <a:latin typeface="Calibri"/>
              </a:rPr>
              <a:t>Active client portfolio: Cooked Indoors, Covally, Connexxum, Cureva, with discovery underway at Priscilla Specialist Hospital.</a:t>
            </a:r>
          </a:p>
          <a:p>
            <a:pPr algn="l">
              <a:spcBef>
                <a:spcPts val="1400"/>
              </a:spcBef>
            </a:pPr>
            <a:r>
              <a:rPr sz="1100" b="0">
                <a:solidFill>
                  <a:srgbClr val="6B7280"/>
                </a:solidFill>
                <a:latin typeface="Calibri"/>
              </a:rPr>
              <a:t>consultforafrica.com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03120"/>
            <a:ext cx="5486400" cy="41148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CADREHEALTH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51760"/>
            <a:ext cx="4937760" cy="33832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Career platform for Nigerian healthcare professionals.</a:t>
            </a:r>
          </a:p>
          <a:p>
            <a:pPr algn="l">
              <a:spcBef>
                <a:spcPts val="12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Sixteen cadres covered. Real salary data, verified credentials, hospital reviews, diaspora layer through MANSAG, ANPA, and DFC.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Maintained by Consult For Africa. The platform that powers our recruitment service is the same platform doctors, nurses, pharmacists, and allied health professionals use to manage their careers.</a:t>
            </a:r>
          </a:p>
          <a:p>
            <a:pPr algn="l">
              <a:spcBef>
                <a:spcPts val="1400"/>
              </a:spcBef>
            </a:pPr>
            <a:r>
              <a:rPr sz="1100" b="0">
                <a:solidFill>
                  <a:srgbClr val="D4AF37"/>
                </a:solidFill>
                <a:latin typeface="Calibri"/>
              </a:rPr>
              <a:t>oncadre.com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PARTNERSHIP 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20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FOR THE STRATEGIC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A separate partnership track, in parallel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11155680" cy="9144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Recruitment is the immediate need. The partnership conversation is the bigger one. We are proposing two parallel tracks so neither slows the other down.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1115568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73152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Founding Hospital Partner status, with first-mover positioning on the CadreHealth platform.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49040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49040"/>
            <a:ext cx="73152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404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Revenue share on CadreHealth Connect subscriptions sold into the Osiris network (R-Jolad and other affiliates). Indicative: 15% to 20% of subscription revenue, capped for 24 months.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97680"/>
            <a:ext cx="1115568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97680"/>
            <a:ext cx="73152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Co-development input on renal-care workforce features: dialysis nurse credentialing, nephrology fellowship register, in-centre staffing analytics.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46320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846320"/>
            <a:ext cx="73152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377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Equity participation: explicitly scoped as a separate conversation, not embedded in the recruitment SLA. Reserved for a dedicated meeting with both principals.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394960"/>
            <a:ext cx="1115568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394960"/>
            <a:ext cx="73152" cy="4572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Logo and case-study rights with attribution. First claim to publish the partnership story.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21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WHAT HAPPENS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Next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20116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13432"/>
            <a:ext cx="1828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Week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194560"/>
            <a:ext cx="905256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313432"/>
            <a:ext cx="8686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Ayoola confirms full open headcount by site and salary bands.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80360"/>
            <a:ext cx="20116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9232"/>
            <a:ext cx="1828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Week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880360"/>
            <a:ext cx="905256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2999232"/>
            <a:ext cx="8686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Two kickoff calls. One commercial (SLA), one strategic (partnership).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66160"/>
            <a:ext cx="20116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85032"/>
            <a:ext cx="1828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Week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3566160"/>
            <a:ext cx="905256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3685032"/>
            <a:ext cx="8686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Consultant Nephrologist retainer search begins. Dialysis Nurse batch sourcing live.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51960"/>
            <a:ext cx="20116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370832"/>
            <a:ext cx="1828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Week 3 to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4251960"/>
            <a:ext cx="905256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4370832"/>
            <a:ext cx="8686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First nursing shortlists for Ibadan and Warri.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937760"/>
            <a:ext cx="20116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056632"/>
            <a:ext cx="1828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Week 4 to 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4937760"/>
            <a:ext cx="905256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5056632"/>
            <a:ext cx="8686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Consultant Nephrologist shortlist of 3 names.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623560"/>
            <a:ext cx="2011680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42432"/>
            <a:ext cx="1828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Week 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5623560"/>
            <a:ext cx="9052560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5742432"/>
            <a:ext cx="86868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Partnership MoU drafted in parallel.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879592"/>
            <a:ext cx="10607040" cy="4572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300" b="1">
                <a:solidFill>
                  <a:srgbClr val="D4AF37"/>
                </a:solidFill>
                <a:latin typeface="Calibri"/>
              </a:rPr>
              <a:t>Dr Debo Odulana, Founding Partner  /  debo.odulana@consultforafrica.com  /  +234 913 813 8553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APPENDIX / SAMPLE SHORTLIST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22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What a delivered shortlist looks like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155448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13432"/>
            <a:ext cx="13716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Candidate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194560"/>
            <a:ext cx="201168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313432"/>
            <a:ext cx="18288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Cadre / Specialty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2194560"/>
            <a:ext cx="118872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231343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Years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2194560"/>
            <a:ext cx="182880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313432"/>
            <a:ext cx="16459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Credential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2194560"/>
            <a:ext cx="118872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31343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Readiness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2194560"/>
            <a:ext cx="3383280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313432"/>
            <a:ext cx="3200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D4AF37"/>
                </a:solidFill>
                <a:latin typeface="Calibri"/>
              </a:rPr>
              <a:t>Note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69748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816352"/>
            <a:ext cx="13716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Candidate 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269748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48840" y="2816352"/>
            <a:ext cx="18288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Medical Officer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69080" y="26974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281635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4 yrs post-NYSC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7800" y="269748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2816352"/>
            <a:ext cx="16459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MDCN verified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269748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281635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78 / 100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269748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2816352"/>
            <a:ext cx="3200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Oncology rotation at LASUTH, EMR proficient.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200400"/>
            <a:ext cx="15544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319272"/>
            <a:ext cx="13716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Candidate 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57400" y="3200400"/>
            <a:ext cx="2011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48840" y="3319272"/>
            <a:ext cx="18288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Medical Officer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69080" y="3200400"/>
            <a:ext cx="118872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331927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3 yrs post-NYSC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57800" y="3200400"/>
            <a:ext cx="182880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49240" y="3319272"/>
            <a:ext cx="16459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MDCN verified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86600" y="3200400"/>
            <a:ext cx="118872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78040" y="331927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71 / 100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3200400"/>
            <a:ext cx="33832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3319272"/>
            <a:ext cx="3200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Internal medicine background, oncology exposure via fellowship.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70332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822192"/>
            <a:ext cx="13716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Candidate 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3703320"/>
            <a:ext cx="20116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48840" y="3822192"/>
            <a:ext cx="18288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Dialysis Nurse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69080" y="37033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60520" y="382219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6 yrs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57800" y="370332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49240" y="3822192"/>
            <a:ext cx="16459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NMCN verified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86600" y="3703320"/>
            <a:ext cx="11887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78040" y="382219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82 / 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75320" y="370332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66760" y="3822192"/>
            <a:ext cx="3200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Renal experience at private dialysis centre, BLS current.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4206240"/>
            <a:ext cx="15544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4325112"/>
            <a:ext cx="13716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Candidate 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4206240"/>
            <a:ext cx="20116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48840" y="4325112"/>
            <a:ext cx="18288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Consultant Nephrologist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69080" y="4206240"/>
            <a:ext cx="118872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60520" y="432511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12 yrs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57800" y="4206240"/>
            <a:ext cx="182880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49240" y="4325112"/>
            <a:ext cx="164592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MDCN consultant register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86600" y="4206240"/>
            <a:ext cx="118872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78040" y="4325112"/>
            <a:ext cx="100584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85 / 100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4206240"/>
            <a:ext cx="3383280" cy="502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66760" y="4325112"/>
            <a:ext cx="3200400" cy="41148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Available for fractional retainer; based in Lagos.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5486400"/>
            <a:ext cx="11155680" cy="9144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Each shortlisted candidate ships with: verified credential, structured assessment, Career Readiness score, salary expectations, references on offer-stage candidates.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CADREHEALTH RECRUITMENT  /  by 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1000" b="1">
                <a:solidFill>
                  <a:srgbClr val="D4AF37"/>
                </a:solidFill>
                <a:latin typeface="Calibri"/>
              </a:rPr>
              <a:t>APPENDIX / NDPR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oncadre.com  |  hello@consultforafrica.com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6601968"/>
            <a:ext cx="4023360" cy="22860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23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Data protection, in plain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64008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1115568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Lawful basis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8600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Candidates register with CadreHealth and consent to their data being processed for recruitment matching. Hospital clients are introduced under a separate processor agreement.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88920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Residency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8036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Candidate data is hosted in a Nigeria-region cloud where available, with backups in compliant jurisdictions.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83280"/>
            <a:ext cx="1115568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47472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Active candidate data is retained for the duration of platform membership. Hospital-client data is retained per the signed SLA and NDPR defaults.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77640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6908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Disclosure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06908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We share candidate data with hospital clients only after explicit candidate consent for that specific role.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72000"/>
            <a:ext cx="11155680" cy="594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6344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Subject rights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66344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Candidates retain full access, correction, and erasure rights under NDPR.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166360"/>
            <a:ext cx="1115568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2286000" cy="365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Breach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257800"/>
            <a:ext cx="8229600" cy="50292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Any incident is reported to the affected parties and the Nigeria Data Protection Commission within 72 hours, per regulation.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