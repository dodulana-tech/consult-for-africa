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4a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48640"/>
            <a:ext cx="3463588" cy="82296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48640" y="2468880"/>
            <a:ext cx="1371600" cy="7315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7315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D4AF37"/>
                </a:solidFill>
                <a:latin typeface="Calibri"/>
              </a:rPr>
              <a:t>PROPOSAL FOR HOSPITAL LEADERSHIP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0"/>
            <a:ext cx="10972800" cy="1828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Calibri"/>
              </a:rPr>
              <a:t>Healthcare Leadership and Workforce</a:t>
            </a:r>
          </a:p>
          <a:p>
            <a:pPr algn="l">
              <a:spcBef>
                <a:spcPts val="0"/>
              </a:spcBef>
            </a:pPr>
            <a:r>
              <a:rPr sz="4200" b="1">
                <a:solidFill>
                  <a:srgbClr val="FFFFFF"/>
                </a:solidFill>
                <a:latin typeface="Calibri"/>
              </a:rPr>
              <a:t>A Stack Built for African Hospitals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75488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D4AF37"/>
                </a:solidFill>
                <a:latin typeface="Calibri"/>
              </a:rPr>
              <a:t>Maarova for leadership. CadreHealth for the workforce. One operator. One mission.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consultforafrica.com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CONSULT FOR AFRICA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91440"/>
            <a:ext cx="12801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100" b="1">
                <a:solidFill>
                  <a:srgbClr val="D4AF37"/>
                </a:solidFill>
                <a:latin typeface="Calibri"/>
              </a:rPr>
              <a:t>SLIDE 02</a:t>
            </a:r>
          </a:p>
        </p:txBody>
      </p:sp>
      <p:pic>
        <p:nvPicPr>
          <p:cNvPr id="5" name="Picture 4" descr="c4a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2880" y="45720"/>
            <a:ext cx="387626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777240"/>
            <a:ext cx="110642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>
                <a:solidFill>
                  <a:srgbClr val="D4AF37"/>
                </a:solidFill>
                <a:latin typeface="Calibri"/>
              </a:rP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1106424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Calibri"/>
              </a:rPr>
              <a:t>The reality your hospital is operating in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731520" cy="457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377440"/>
            <a:ext cx="2606040" cy="219456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377440"/>
            <a:ext cx="2606040" cy="109728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743200"/>
            <a:ext cx="224028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400" b="1">
                <a:solidFill>
                  <a:srgbClr val="1F7A8C"/>
                </a:solidFill>
                <a:latin typeface="Calibri"/>
              </a:rPr>
              <a:t>80%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749040"/>
            <a:ext cx="224028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of Nigerian healthcare workers intend to emigrate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37560" y="2377440"/>
            <a:ext cx="2606040" cy="219456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37560" y="2377440"/>
            <a:ext cx="2606040" cy="109728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20440" y="2743200"/>
            <a:ext cx="224028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400" b="1">
                <a:solidFill>
                  <a:srgbClr val="0B3C5D"/>
                </a:solidFill>
                <a:latin typeface="Calibri"/>
              </a:rPr>
              <a:t>8 to 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3749040"/>
            <a:ext cx="224028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weeks lost recruiting each replacement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2377440"/>
            <a:ext cx="2606040" cy="219456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2377440"/>
            <a:ext cx="2606040" cy="109728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2743200"/>
            <a:ext cx="224028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400" b="1">
                <a:solidFill>
                  <a:srgbClr val="D4AF37"/>
                </a:solidFill>
                <a:latin typeface="Calibri"/>
              </a:rPr>
              <a:t>N3M+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3749040"/>
            <a:ext cx="224028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monthly cost when a senior leader role sits vacant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15400" y="2377440"/>
            <a:ext cx="2606040" cy="219456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15400" y="2377440"/>
            <a:ext cx="2606040" cy="10972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98280" y="2743200"/>
            <a:ext cx="224028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400" b="1">
                <a:solidFill>
                  <a:srgbClr val="111827"/>
                </a:solidFill>
                <a:latin typeface="Calibri"/>
              </a:rPr>
              <a:t>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98280" y="3749040"/>
            <a:ext cx="224028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objective benchmarks of hospital leadership capability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937760"/>
            <a:ext cx="11064240" cy="11887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0B3C5D"/>
                </a:solidFill>
                <a:latin typeface="Calibri"/>
              </a:rPr>
              <a:t>Two compounding gaps:</a:t>
            </a:r>
          </a:p>
          <a:p>
            <a:pPr algn="l">
              <a:spcBef>
                <a:spcPts val="800"/>
              </a:spcBef>
            </a:pPr>
            <a:r>
              <a:rPr sz="1500" b="0">
                <a:solidFill>
                  <a:srgbClr val="111827"/>
                </a:solidFill>
                <a:latin typeface="Calibri"/>
              </a:rPr>
              <a:t>Talent leaves faster than you can replace, and the leaders left behind were promoted on tenure, not on capability.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6601968"/>
            <a:ext cx="73152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consultforafrica.com  |  Maarova  |  CadreHealth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85455" y="6601968"/>
            <a:ext cx="402336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2 of 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CONSULT FOR AFRICA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91440"/>
            <a:ext cx="12801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100" b="1">
                <a:solidFill>
                  <a:srgbClr val="D4AF37"/>
                </a:solidFill>
                <a:latin typeface="Calibri"/>
              </a:rPr>
              <a:t>SLIDE 03</a:t>
            </a:r>
          </a:p>
        </p:txBody>
      </p:sp>
      <p:pic>
        <p:nvPicPr>
          <p:cNvPr id="5" name="Picture 4" descr="c4a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2880" y="45720"/>
            <a:ext cx="387626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777240"/>
            <a:ext cx="110642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>
                <a:solidFill>
                  <a:srgbClr val="D4AF37"/>
                </a:solidFill>
                <a:latin typeface="Calibri"/>
              </a:rPr>
              <a:t>COMMERCIAL REALITY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1106424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Calibri"/>
              </a:rPr>
              <a:t>What inaction is already costing you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731520" cy="457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194560"/>
            <a:ext cx="11064240" cy="77724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4114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>
                <a:solidFill>
                  <a:srgbClr val="0B3C5D"/>
                </a:solidFill>
                <a:latin typeface="Calibri"/>
              </a:rPr>
              <a:t>One bad senior hire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578608"/>
            <a:ext cx="4114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D4AF37"/>
                </a:solidFill>
                <a:latin typeface="Calibri"/>
              </a:rPr>
              <a:t>N18M to N40M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2359152"/>
            <a:ext cx="6400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Recruiting, onboarding, severance, lost output. Industry benchmark: 6 to 12 months of compensation.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063240"/>
            <a:ext cx="1106424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154680"/>
            <a:ext cx="4114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>
                <a:solidFill>
                  <a:srgbClr val="0B3C5D"/>
                </a:solidFill>
                <a:latin typeface="Calibri"/>
              </a:rPr>
              <a:t>One unfilled consultant role for 6 months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447288"/>
            <a:ext cx="4114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D4AF37"/>
                </a:solidFill>
                <a:latin typeface="Calibri"/>
              </a:rPr>
              <a:t>N12M to N20M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3227832"/>
            <a:ext cx="6400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Locum coverage premium plus referral leakage to competing hospitals.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931920"/>
            <a:ext cx="11064240" cy="77724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023360"/>
            <a:ext cx="4114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>
                <a:solidFill>
                  <a:srgbClr val="0B3C5D"/>
                </a:solidFill>
                <a:latin typeface="Calibri"/>
              </a:rPr>
              <a:t>One leadership failure that triggers staff exodus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315968"/>
            <a:ext cx="4114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D4AF37"/>
                </a:solidFill>
                <a:latin typeface="Calibri"/>
              </a:rPr>
              <a:t>N50M+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4096512"/>
            <a:ext cx="6400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Replacement recruiting, training ramp, patient volume loss, reputational drag.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800600"/>
            <a:ext cx="1106424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892040"/>
            <a:ext cx="4114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>
                <a:solidFill>
                  <a:srgbClr val="0B3C5D"/>
                </a:solidFill>
                <a:latin typeface="Calibri"/>
              </a:rPr>
              <a:t>One year of unmeasured leadership capability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184648"/>
            <a:ext cx="4114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D4AF37"/>
                </a:solidFill>
                <a:latin typeface="Calibri"/>
              </a:rPr>
              <a:t>Unbounded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0" y="4965192"/>
            <a:ext cx="6400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You cannot fix what you have not assessed. Every quarter compounds.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6601968"/>
            <a:ext cx="73152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consultforafrica.com  |  Maarova  |  CadreHealth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85455" y="6601968"/>
            <a:ext cx="402336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3 of 17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CONSULT FOR AFRICA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91440"/>
            <a:ext cx="12801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100" b="1">
                <a:solidFill>
                  <a:srgbClr val="D4AF37"/>
                </a:solidFill>
                <a:latin typeface="Calibri"/>
              </a:rPr>
              <a:t>SLIDE 04</a:t>
            </a:r>
          </a:p>
        </p:txBody>
      </p:sp>
      <p:pic>
        <p:nvPicPr>
          <p:cNvPr id="5" name="Picture 4" descr="c4a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2880" y="45720"/>
            <a:ext cx="387626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777240"/>
            <a:ext cx="110642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>
                <a:solidFill>
                  <a:srgbClr val="D4AF37"/>
                </a:solidFill>
                <a:latin typeface="Calibri"/>
              </a:rPr>
              <a:t>THE STACK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1106424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Calibri"/>
              </a:rPr>
              <a:t>Two products. One operator. One mission.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731520" cy="457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286000"/>
            <a:ext cx="5440680" cy="402336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286000"/>
            <a:ext cx="5440680" cy="4572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331720"/>
            <a:ext cx="49834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0B3C5D"/>
                </a:solidFill>
                <a:latin typeface="Calibri"/>
              </a:rPr>
              <a:t>MAAROVA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926080"/>
            <a:ext cx="49834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Leadership Assessment and Coaching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566160"/>
            <a:ext cx="4983480" cy="2560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>
                <a:solidFill>
                  <a:srgbClr val="D4AF37"/>
                </a:solidFill>
                <a:latin typeface="Calibri"/>
              </a:rPr>
              <a:t>Fixes the top of the org chart.</a:t>
            </a:r>
          </a:p>
          <a:p>
            <a:pPr algn="l">
              <a:spcBef>
                <a:spcPts val="10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Objective baseline of leadership capability across 6 dimensions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360-degree feedback from peers, reports, and the next layer down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1:1 and group coaching matched to identified gaps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Executive retreats for leadership team alignment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Built on Ubuntu coaching framework, not retrofitted Western tools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2286000"/>
            <a:ext cx="5440680" cy="402336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2286000"/>
            <a:ext cx="5440680" cy="4572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2331720"/>
            <a:ext cx="49834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0B3C5D"/>
                </a:solidFill>
                <a:latin typeface="Calibri"/>
              </a:rPr>
              <a:t>CADREHEALTH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926080"/>
            <a:ext cx="49834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Healthcare Workforce Platform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566160"/>
            <a:ext cx="4983480" cy="2560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>
                <a:solidFill>
                  <a:srgbClr val="D4AF37"/>
                </a:solidFill>
                <a:latin typeface="Calibri"/>
              </a:rPr>
              <a:t>Fixes the pipeline of people moving through.</a:t>
            </a:r>
          </a:p>
          <a:p>
            <a:pPr algn="l">
              <a:spcBef>
                <a:spcPts val="10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4,300+ verified healthcare professionals across 16 cadres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Hospital reviews from real healthcare workers, anonymous and verified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Salary intelligence by cadre, facility, and city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Recruitment matching with career readiness scoring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Locum marketplace and credential verification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6601968"/>
            <a:ext cx="73152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consultforafrica.com  |  Maarova  |  CadreHealth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85455" y="6601968"/>
            <a:ext cx="402336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4 of 17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CONSULT FOR AFRICA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91440"/>
            <a:ext cx="12801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100" b="1">
                <a:solidFill>
                  <a:srgbClr val="D4AF37"/>
                </a:solidFill>
                <a:latin typeface="Calibri"/>
              </a:rPr>
              <a:t>SLIDE 05</a:t>
            </a:r>
          </a:p>
        </p:txBody>
      </p:sp>
      <p:pic>
        <p:nvPicPr>
          <p:cNvPr id="5" name="Picture 4" descr="c4a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2880" y="45720"/>
            <a:ext cx="387626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777240"/>
            <a:ext cx="110642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>
                <a:solidFill>
                  <a:srgbClr val="D4AF37"/>
                </a:solidFill>
                <a:latin typeface="Calibri"/>
              </a:rPr>
              <a:t>THE INTEGRATED STORY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1106424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Calibri"/>
              </a:rPr>
              <a:t>Why both, together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731520" cy="457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286000"/>
            <a:ext cx="3566160" cy="292608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286000"/>
            <a:ext cx="3566160" cy="64008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377440"/>
            <a:ext cx="3200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Strong Leadership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063240"/>
            <a:ext cx="3200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0B3C5D"/>
                </a:solidFill>
                <a:latin typeface="Calibri"/>
              </a:rPr>
              <a:t>MAAROVA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474720"/>
            <a:ext cx="3200400" cy="1645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Calibri"/>
              </a:rPr>
              <a:t>Leaders who can build and retain teams. Diagnostic plus coaching plus retreats.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43400" y="2286000"/>
            <a:ext cx="3566160" cy="292608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2286000"/>
            <a:ext cx="3566160" cy="64008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2377440"/>
            <a:ext cx="3200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Quality Workforce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3063240"/>
            <a:ext cx="3200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1F7A8C"/>
                </a:solidFill>
                <a:latin typeface="Calibri"/>
              </a:rPr>
              <a:t>CADREHEALTH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3474720"/>
            <a:ext cx="3200400" cy="1645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Calibri"/>
              </a:rPr>
              <a:t>Verified talent pool, salary benchmarks, career readiness, hospital reviews.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0" y="2286000"/>
            <a:ext cx="3566160" cy="292608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38160" y="2286000"/>
            <a:ext cx="3566160" cy="64008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2377440"/>
            <a:ext cx="3200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Better Outcomes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3063240"/>
            <a:ext cx="3200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D4AF37"/>
                </a:solidFill>
                <a:latin typeface="Calibri"/>
              </a:rPr>
              <a:t>COMBINED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3474720"/>
            <a:ext cx="3200400" cy="1645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Calibri"/>
              </a:rPr>
              <a:t>Lower attrition, faster fills, stronger governance, healthier patient outcomes.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486400"/>
            <a:ext cx="1106424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800" b="1">
                <a:solidFill>
                  <a:srgbClr val="0B3C5D"/>
                </a:solidFill>
                <a:latin typeface="Calibri"/>
              </a:rPr>
              <a:t>Maarova fixes the top. CadreHealth fixes the pipeline.</a:t>
            </a:r>
          </a:p>
          <a:p>
            <a:pPr algn="ctr">
              <a:spcBef>
                <a:spcPts val="800"/>
              </a:spcBef>
            </a:pPr>
            <a:r>
              <a:rPr sz="1400" b="0">
                <a:solidFill>
                  <a:srgbClr val="111827"/>
                </a:solidFill>
                <a:latin typeface="Calibri"/>
              </a:rPr>
              <a:t>Leaders who know how to retain talent, plus a marketplace where they can find it.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6601968"/>
            <a:ext cx="73152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consultforafrica.com  |  Maarova  |  CadreHealth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85455" y="6601968"/>
            <a:ext cx="402336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5 of 17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CONSULT FOR AFRICA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91440"/>
            <a:ext cx="12801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100" b="1">
                <a:solidFill>
                  <a:srgbClr val="D4AF37"/>
                </a:solidFill>
                <a:latin typeface="Calibri"/>
              </a:rPr>
              <a:t>SLIDE 06</a:t>
            </a:r>
          </a:p>
        </p:txBody>
      </p:sp>
      <p:pic>
        <p:nvPicPr>
          <p:cNvPr id="5" name="Picture 4" descr="c4a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2880" y="45720"/>
            <a:ext cx="387626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777240"/>
            <a:ext cx="110642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>
                <a:solidFill>
                  <a:srgbClr val="D4AF37"/>
                </a:solidFill>
                <a:latin typeface="Calibri"/>
              </a:rPr>
              <a:t>LEADERSHIP PRODUCT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1106424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Calibri"/>
              </a:rPr>
              <a:t>Maarova: how the engagement works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731520" cy="457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286000"/>
            <a:ext cx="2697480" cy="329184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286000"/>
            <a:ext cx="2697480" cy="82296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377440"/>
            <a:ext cx="22402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D4AF37"/>
                </a:solidFill>
                <a:latin typeface="Calibr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651760"/>
            <a:ext cx="22402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Assess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291840"/>
            <a:ext cx="2240280" cy="2194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Online assessment plus 360 feedback. 90 minutes total commitment per leader.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83280" y="2286000"/>
            <a:ext cx="2697480" cy="329184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83280" y="2286000"/>
            <a:ext cx="2697480" cy="82296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11880" y="2377440"/>
            <a:ext cx="22402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D4AF37"/>
                </a:solidFill>
                <a:latin typeface="Calibr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1880" y="2651760"/>
            <a:ext cx="22402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Debrief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3291840"/>
            <a:ext cx="2240280" cy="2194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1:1 results review with accredited coach. Top 2 to 3 development goals identified.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2286000"/>
            <a:ext cx="2697480" cy="329184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2286000"/>
            <a:ext cx="2697480" cy="82296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2377440"/>
            <a:ext cx="22402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D4AF37"/>
                </a:solidFill>
                <a:latin typeface="Calibr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2651760"/>
            <a:ext cx="22402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Coach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3291840"/>
            <a:ext cx="2240280" cy="2194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12 sessions over 6 months, biweekly. 1:1 or group format. WhatsApp accountability.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52560" y="2286000"/>
            <a:ext cx="2697480" cy="329184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52560" y="2286000"/>
            <a:ext cx="2697480" cy="82296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81160" y="2377440"/>
            <a:ext cx="22402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D4AF37"/>
                </a:solidFill>
                <a:latin typeface="Calibri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81160" y="2651760"/>
            <a:ext cx="22402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Sustain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81160" y="3291840"/>
            <a:ext cx="2240280" cy="2194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Mini 360 at month 6. Personal development plan. Optional cohort retreat.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852160"/>
            <a:ext cx="1106424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300" b="1">
                <a:solidFill>
                  <a:srgbClr val="0B3C5D"/>
                </a:solidFill>
                <a:latin typeface="Calibri"/>
              </a:rPr>
              <a:t>Outcome: a leader with a clear capability map, a coach, and a development plan tied to your hospital strategy.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6601968"/>
            <a:ext cx="73152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consultforafrica.com  |  Maarova  |  CadreHealth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85455" y="6601968"/>
            <a:ext cx="402336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6 of 17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CONSULT FOR AFRICA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91440"/>
            <a:ext cx="12801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100" b="1">
                <a:solidFill>
                  <a:srgbClr val="D4AF37"/>
                </a:solidFill>
                <a:latin typeface="Calibri"/>
              </a:rPr>
              <a:t>SLIDE 07</a:t>
            </a:r>
          </a:p>
        </p:txBody>
      </p:sp>
      <p:pic>
        <p:nvPicPr>
          <p:cNvPr id="5" name="Picture 4" descr="c4a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2880" y="45720"/>
            <a:ext cx="387626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777240"/>
            <a:ext cx="110642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>
                <a:solidFill>
                  <a:srgbClr val="D4AF37"/>
                </a:solidFill>
                <a:latin typeface="Calibri"/>
              </a:rPr>
              <a:t>COMMERCIALS  /  MAAROVA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1106424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Calibri"/>
              </a:rPr>
              <a:t>Maarova investment tiers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731520" cy="457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194560"/>
            <a:ext cx="11064240" cy="59436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36576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111827"/>
                </a:solidFill>
                <a:latin typeface="Calibri"/>
              </a:rPr>
              <a:t>Assessment Only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286000"/>
            <a:ext cx="256032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D4AF37"/>
                </a:solidFill>
                <a:latin typeface="Calibri"/>
              </a:rPr>
              <a:t>N400K to N600K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2313432"/>
            <a:ext cx="43891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Per leader. Full report and 1:1 debrief.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788920"/>
            <a:ext cx="1106424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880360"/>
            <a:ext cx="36576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111827"/>
                </a:solidFill>
                <a:latin typeface="Calibri"/>
              </a:rPr>
              <a:t>Assessment + Group Coaching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880360"/>
            <a:ext cx="256032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D4AF37"/>
                </a:solidFill>
                <a:latin typeface="Calibri"/>
              </a:rPr>
              <a:t>N800K to N1.2M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2907792"/>
            <a:ext cx="43891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6 monthly group sessions over 6 months.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383280"/>
            <a:ext cx="11064240" cy="59436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474720"/>
            <a:ext cx="36576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0B3C5D"/>
                </a:solidFill>
                <a:latin typeface="Calibri"/>
              </a:rPr>
              <a:t>Assessment + 1:1 Coaching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3474720"/>
            <a:ext cx="256032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0B3C5D"/>
                </a:solidFill>
                <a:latin typeface="Calibri"/>
              </a:rPr>
              <a:t>N2M to N3.5M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3502152"/>
            <a:ext cx="43891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0B3C5D"/>
                </a:solidFill>
                <a:latin typeface="Calibri"/>
              </a:rPr>
              <a:t>12 sessions over 6 months. Recommended starting point for senior leaders.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977640"/>
            <a:ext cx="1106424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069080"/>
            <a:ext cx="36576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111827"/>
                </a:solidFill>
                <a:latin typeface="Calibri"/>
              </a:rPr>
              <a:t>Leadership Intensive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4069080"/>
            <a:ext cx="256032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D4AF37"/>
                </a:solidFill>
                <a:latin typeface="Calibri"/>
              </a:rPr>
              <a:t>N4M to N6M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4096512"/>
            <a:ext cx="43891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1:1 plus group plus on-site workshop. For C-suite.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572000"/>
            <a:ext cx="11064240" cy="59436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4663440"/>
            <a:ext cx="36576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111827"/>
                </a:solidFill>
                <a:latin typeface="Calibri"/>
              </a:rPr>
              <a:t>Executive Retreat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4663440"/>
            <a:ext cx="256032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D4AF37"/>
                </a:solidFill>
                <a:latin typeface="Calibri"/>
              </a:rPr>
              <a:t>N1.5M to N2.5M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0" y="4690872"/>
            <a:ext cx="43891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Per person. 2 to 3 day offsite. Premium venue, peer cohort.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5166360"/>
            <a:ext cx="11064240" cy="59436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5257800"/>
            <a:ext cx="36576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0B3C5D"/>
                </a:solidFill>
                <a:latin typeface="Calibri"/>
              </a:rPr>
              <a:t>Enterprise Cohort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5257800"/>
            <a:ext cx="256032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0B3C5D"/>
                </a:solidFill>
                <a:latin typeface="Calibri"/>
              </a:rPr>
              <a:t>N15M to N25M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0" y="5285232"/>
            <a:ext cx="43891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0B3C5D"/>
                </a:solidFill>
                <a:latin typeface="Calibri"/>
              </a:rPr>
              <a:t>10+ leaders. Stack of assessment, coaching, and retreat. Best per-head value.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0B3C5D"/>
                </a:solidFill>
                <a:latin typeface="Calibri"/>
              </a:rPr>
              <a:t>ANCHOR: LBS Advanced Management Programme is N17 to 18M for ONE leader. Our enterprise cohort sends 10+ leaders for the same outlay.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6601968"/>
            <a:ext cx="73152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consultforafrica.com  |  Maarova  |  CadreHealth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85455" y="6601968"/>
            <a:ext cx="402336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7 of 17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CONSULT FOR AFRICA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91440"/>
            <a:ext cx="12801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100" b="1">
                <a:solidFill>
                  <a:srgbClr val="D4AF37"/>
                </a:solidFill>
                <a:latin typeface="Calibri"/>
              </a:rPr>
              <a:t>SLIDE 08</a:t>
            </a:r>
          </a:p>
        </p:txBody>
      </p:sp>
      <p:pic>
        <p:nvPicPr>
          <p:cNvPr id="5" name="Picture 4" descr="c4a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2880" y="45720"/>
            <a:ext cx="387626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777240"/>
            <a:ext cx="110642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>
                <a:solidFill>
                  <a:srgbClr val="D4AF37"/>
                </a:solidFill>
                <a:latin typeface="Calibri"/>
              </a:rPr>
              <a:t>THIRD MOTION  /  SECONDMENTS AND FRACTIONAL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1106424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Calibri"/>
              </a:rPr>
              <a:t>When you need senior capability now, not in 6 months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731520" cy="457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286000"/>
            <a:ext cx="5440680" cy="393192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286000"/>
            <a:ext cx="5440680" cy="4572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331720"/>
            <a:ext cx="49834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0B3C5D"/>
                </a:solidFill>
                <a:latin typeface="Calibri"/>
              </a:rPr>
              <a:t>SECONDMENT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926080"/>
            <a:ext cx="49834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Full-time, embedded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520440"/>
            <a:ext cx="4983480" cy="2560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A CFA consultant deployed full-time into your hospital. They sit in your office, attend your stand-ups, own a P&amp;L line.</a:t>
            </a:r>
          </a:p>
          <a:p>
            <a:pPr algn="l">
              <a:spcBef>
                <a:spcPts val="1200"/>
              </a:spcBef>
            </a:pPr>
            <a:r>
              <a:rPr sz="1000" b="1">
                <a:solidFill>
                  <a:srgbClr val="D4AF37"/>
                </a:solidFill>
                <a:latin typeface="Calibri"/>
              </a:rPr>
              <a:t>TYPICAL DURATION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3 to 12 months. Most engagements run 6 months with optional extension.</a:t>
            </a:r>
          </a:p>
          <a:p>
            <a:pPr algn="l">
              <a:spcBef>
                <a:spcPts val="800"/>
              </a:spcBef>
            </a:pPr>
            <a:r>
              <a:rPr sz="1000" b="1">
                <a:solidFill>
                  <a:srgbClr val="D4AF37"/>
                </a:solidFill>
                <a:latin typeface="Calibri"/>
              </a:rPr>
              <a:t>BEST FOR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FFFFFF"/>
                </a:solidFill>
                <a:latin typeface="Calibri"/>
              </a:rPr>
              <a:t>• Interim COO during turnaround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FFFFFF"/>
                </a:solidFill>
                <a:latin typeface="Calibri"/>
              </a:rPr>
              <a:t>• Embedded transformation lead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FFFFFF"/>
                </a:solidFill>
                <a:latin typeface="Calibri"/>
              </a:rPr>
              <a:t>• Acting CHRO during HR overhaul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2286000"/>
            <a:ext cx="5440680" cy="393192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2286000"/>
            <a:ext cx="5440680" cy="4572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2331720"/>
            <a:ext cx="49834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0B3C5D"/>
                </a:solidFill>
                <a:latin typeface="Calibri"/>
              </a:rPr>
              <a:t>FRACTIONAL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926080"/>
            <a:ext cx="49834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Senior, part-time, ongoing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520440"/>
            <a:ext cx="4983480" cy="2560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A senior CFA leader works with you 1 to 3 days a week over a longer horizon. Strategic capability without the cost of a full-time hire.</a:t>
            </a:r>
          </a:p>
          <a:p>
            <a:pPr algn="l">
              <a:spcBef>
                <a:spcPts val="1200"/>
              </a:spcBef>
            </a:pPr>
            <a:r>
              <a:rPr sz="1000" b="1">
                <a:solidFill>
                  <a:srgbClr val="D4AF37"/>
                </a:solidFill>
                <a:latin typeface="Calibri"/>
              </a:rPr>
              <a:t>TYPICAL DURATION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6 to 12 months, often renewed. 1 to 3 days per week.</a:t>
            </a:r>
          </a:p>
          <a:p>
            <a:pPr algn="l">
              <a:spcBef>
                <a:spcPts val="800"/>
              </a:spcBef>
            </a:pPr>
            <a:r>
              <a:rPr sz="1000" b="1">
                <a:solidFill>
                  <a:srgbClr val="D4AF37"/>
                </a:solidFill>
                <a:latin typeface="Calibri"/>
              </a:rPr>
              <a:t>BEST FOR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FFFFFF"/>
                </a:solidFill>
                <a:latin typeface="Calibri"/>
              </a:rPr>
              <a:t>• Fractional CMO during clinical strategy reset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FFFFFF"/>
                </a:solidFill>
                <a:latin typeface="Calibri"/>
              </a:rPr>
              <a:t>• Fractional CFO for financial discipline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FFFFFF"/>
                </a:solidFill>
                <a:latin typeface="Calibri"/>
              </a:rPr>
              <a:t>• Fractional CHRO for talent transformation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00800"/>
            <a:ext cx="1106424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>
                <a:solidFill>
                  <a:srgbClr val="0B3C5D"/>
                </a:solidFill>
                <a:latin typeface="Calibri"/>
              </a:rPr>
              <a:t>Senior capability you can hire by the month, not the headcount line.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6601968"/>
            <a:ext cx="73152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consultforafrica.com  |  Maarova  |  CadreHealth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85455" y="6601968"/>
            <a:ext cx="402336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8 of 17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CONSULT FOR AFRICA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91440"/>
            <a:ext cx="12801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100" b="1">
                <a:solidFill>
                  <a:srgbClr val="D4AF37"/>
                </a:solidFill>
                <a:latin typeface="Calibri"/>
              </a:rPr>
              <a:t>SLIDE 09</a:t>
            </a:r>
          </a:p>
        </p:txBody>
      </p:sp>
      <p:pic>
        <p:nvPicPr>
          <p:cNvPr id="5" name="Picture 4" descr="c4a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2880" y="45720"/>
            <a:ext cx="387626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777240"/>
            <a:ext cx="110642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>
                <a:solidFill>
                  <a:srgbClr val="D4AF37"/>
                </a:solidFill>
                <a:latin typeface="Calibri"/>
              </a:rPr>
              <a:t>COMMERCIALS  /  SECONDMENTS AND FRACTIONAL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1106424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Calibri"/>
              </a:rPr>
              <a:t>Senior roles, monthly cost, what you get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731520" cy="457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194560"/>
            <a:ext cx="11064240" cy="54864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2359152"/>
            <a:ext cx="868680" cy="256032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359152"/>
            <a:ext cx="86868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FRACTIONAL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2267712"/>
            <a:ext cx="36576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>
                <a:solidFill>
                  <a:srgbClr val="0B3C5D"/>
                </a:solidFill>
                <a:latin typeface="Calibri"/>
              </a:rPr>
              <a:t>Fractional Chief Medical Officer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2487168"/>
            <a:ext cx="2743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>
                <a:solidFill>
                  <a:srgbClr val="D4AF37"/>
                </a:solidFill>
                <a:latin typeface="Calibri"/>
              </a:rPr>
              <a:t>N4M to N7M / month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2340864"/>
            <a:ext cx="67665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2 to 3 days a week. Clinical strategy, governance, quality oversight, medical leadership.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743200"/>
            <a:ext cx="1106424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2907792"/>
            <a:ext cx="868680" cy="256032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2907792"/>
            <a:ext cx="86868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FRACTIONAL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2816352"/>
            <a:ext cx="36576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>
                <a:solidFill>
                  <a:srgbClr val="0B3C5D"/>
                </a:solidFill>
                <a:latin typeface="Calibri"/>
              </a:rPr>
              <a:t>Fractional CHRO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83080" y="3035808"/>
            <a:ext cx="2743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>
                <a:solidFill>
                  <a:srgbClr val="D4AF37"/>
                </a:solidFill>
                <a:latin typeface="Calibri"/>
              </a:rPr>
              <a:t>N3M to N5M /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2889504"/>
            <a:ext cx="67665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2 to 3 days a week. Workforce strategy, retention, succession planning, HR systems.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291840"/>
            <a:ext cx="11064240" cy="54864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3456432"/>
            <a:ext cx="868680" cy="256032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3456432"/>
            <a:ext cx="86868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FRACTIONAL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83080" y="3364992"/>
            <a:ext cx="36576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>
                <a:solidFill>
                  <a:srgbClr val="0B3C5D"/>
                </a:solidFill>
                <a:latin typeface="Calibri"/>
              </a:rPr>
              <a:t>Fractional CFO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83080" y="3584448"/>
            <a:ext cx="2743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>
                <a:solidFill>
                  <a:srgbClr val="D4AF37"/>
                </a:solidFill>
                <a:latin typeface="Calibri"/>
              </a:rPr>
              <a:t>N3M to N6M / month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0" y="3438144"/>
            <a:ext cx="67665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2 days a week. Financial discipline, cash management, payor strategy, board reporting.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3840480"/>
            <a:ext cx="1106424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005072"/>
            <a:ext cx="868680" cy="256032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4005072"/>
            <a:ext cx="86868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SECONDMENT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83080" y="3913632"/>
            <a:ext cx="36576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>
                <a:solidFill>
                  <a:srgbClr val="0B3C5D"/>
                </a:solidFill>
                <a:latin typeface="Calibri"/>
              </a:rPr>
              <a:t>Interim COO (Secondment)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83080" y="4133088"/>
            <a:ext cx="2743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>
                <a:solidFill>
                  <a:srgbClr val="D4AF37"/>
                </a:solidFill>
                <a:latin typeface="Calibri"/>
              </a:rPr>
              <a:t>N6M to N10M / month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54880" y="3986784"/>
            <a:ext cx="67665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Full-time, 6 to 12 months. Daily ops, turnaround, capacity planning, vendor renegotiation.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4389120"/>
            <a:ext cx="11064240" cy="54864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77240" y="4553712"/>
            <a:ext cx="868680" cy="256032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7240" y="4553712"/>
            <a:ext cx="86868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SECONDMENT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783080" y="4462272"/>
            <a:ext cx="36576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>
                <a:solidFill>
                  <a:srgbClr val="0B3C5D"/>
                </a:solidFill>
                <a:latin typeface="Calibri"/>
              </a:rPr>
              <a:t>Embedded Transformation Lead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783080" y="4681728"/>
            <a:ext cx="2743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>
                <a:solidFill>
                  <a:srgbClr val="D4AF37"/>
                </a:solidFill>
                <a:latin typeface="Calibri"/>
              </a:rPr>
              <a:t>N5M to N8M / month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54880" y="4535424"/>
            <a:ext cx="67665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Full-time, 9 to 12 months. Owns delivery of a named transformation programme end to end.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5074920"/>
            <a:ext cx="11064240" cy="36576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7240" y="5129784"/>
            <a:ext cx="1060704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  <a:latin typeface="Calibri"/>
              </a:rPr>
              <a:t>EXAMPLE BUNDLES  /  WHAT YOU GET FOR WHAT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5486400"/>
            <a:ext cx="3611880" cy="64008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5559552"/>
            <a:ext cx="13716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D4AF37"/>
                </a:solidFill>
                <a:latin typeface="Calibri"/>
              </a:rPr>
              <a:t>N40M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057400" y="5532120"/>
            <a:ext cx="201168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6-month Fractional CMO + Maarova for top 5 leaders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343400" y="5486400"/>
            <a:ext cx="3611880" cy="64008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480560" y="5559552"/>
            <a:ext cx="13716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D4AF37"/>
                </a:solidFill>
                <a:latin typeface="Calibri"/>
              </a:rPr>
              <a:t>N75M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852160" y="5532120"/>
            <a:ext cx="201168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12-month Interim COO + CadreHealth talent search + 10 mid-manager hires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138160" y="5486400"/>
            <a:ext cx="3611880" cy="64008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275320" y="5559552"/>
            <a:ext cx="13716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D4AF37"/>
                </a:solidFill>
                <a:latin typeface="Calibri"/>
              </a:rPr>
              <a:t>N120M+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46920" y="5532120"/>
            <a:ext cx="201168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Full transformation: 12-month Embedded Lead + Maarova cohort of 10 + CadreHealth</a:t>
            </a:r>
          </a:p>
        </p:txBody>
      </p:sp>
      <p:sp>
        <p:nvSpPr>
          <p:cNvPr id="50" name="Rectangle 49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8640" y="6601968"/>
            <a:ext cx="73152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consultforafrica.com  |  Maarova  |  CadreHealth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985455" y="6601968"/>
            <a:ext cx="402336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9 of 17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CONSULT FOR AFRICA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91440"/>
            <a:ext cx="12801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100" b="1">
                <a:solidFill>
                  <a:srgbClr val="D4AF37"/>
                </a:solidFill>
                <a:latin typeface="Calibri"/>
              </a:rPr>
              <a:t>SLIDE 10</a:t>
            </a:r>
          </a:p>
        </p:txBody>
      </p:sp>
      <p:pic>
        <p:nvPicPr>
          <p:cNvPr id="5" name="Picture 4" descr="c4a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2880" y="45720"/>
            <a:ext cx="387626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777240"/>
            <a:ext cx="110642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>
                <a:solidFill>
                  <a:srgbClr val="D4AF37"/>
                </a:solidFill>
                <a:latin typeface="Calibri"/>
              </a:rPr>
              <a:t>COMMERCIALS  /  CADREHEALTH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1106424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Calibri"/>
              </a:rPr>
              <a:t>CadreHealth for hospitals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731520" cy="457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194560"/>
            <a:ext cx="5486400" cy="54864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304288"/>
            <a:ext cx="5029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EMPLOYER SUBSCRIPTIONS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743200"/>
            <a:ext cx="5486400" cy="9144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834640"/>
            <a:ext cx="5029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>
                <a:solidFill>
                  <a:srgbClr val="0B3C5D"/>
                </a:solidFill>
                <a:latin typeface="Calibri"/>
              </a:rPr>
              <a:t>Verified Profile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108960"/>
            <a:ext cx="5029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D4AF37"/>
                </a:solidFill>
                <a:latin typeface="Calibri"/>
              </a:rPr>
              <a:t>N250K / year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383280"/>
            <a:ext cx="5029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Verified employer badge, basic facility profile, response to reviews.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703320"/>
            <a:ext cx="54864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794760"/>
            <a:ext cx="5029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>
                <a:solidFill>
                  <a:srgbClr val="0B3C5D"/>
                </a:solidFill>
                <a:latin typeface="Calibri"/>
              </a:rPr>
              <a:t>Talent Search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069080"/>
            <a:ext cx="5029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D4AF37"/>
                </a:solidFill>
                <a:latin typeface="Calibri"/>
              </a:rPr>
              <a:t>N1.5M / year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343400"/>
            <a:ext cx="5029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Profile plus search across 4,300+ verified professionals, 5 mandates per year.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663440"/>
            <a:ext cx="5486400" cy="9144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754880"/>
            <a:ext cx="5029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>
                <a:solidFill>
                  <a:srgbClr val="0B3C5D"/>
                </a:solidFill>
                <a:latin typeface="Calibri"/>
              </a:rPr>
              <a:t>Workforce Intelligence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029200"/>
            <a:ext cx="5029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D4AF37"/>
                </a:solidFill>
                <a:latin typeface="Calibri"/>
              </a:rPr>
              <a:t>N4M / year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303520"/>
            <a:ext cx="5029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Talent search plus salary benchmarks, attrition data, anonymous hospital review insights.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63640" y="2194560"/>
            <a:ext cx="5486400" cy="54864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2304288"/>
            <a:ext cx="5029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PERFORMANCE FEES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2743200"/>
            <a:ext cx="5486400" cy="9144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2834640"/>
            <a:ext cx="5029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>
                <a:solidFill>
                  <a:srgbClr val="0B3C5D"/>
                </a:solidFill>
                <a:latin typeface="Calibri"/>
              </a:rPr>
              <a:t>Permanent Placement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3108960"/>
            <a:ext cx="5029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D4AF37"/>
                </a:solidFill>
                <a:latin typeface="Calibri"/>
              </a:rPr>
              <a:t>20 to 25%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3383280"/>
            <a:ext cx="5029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Of first-year compensation. Pay only on hire. 90-day replacement guarantee.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63640" y="3703320"/>
            <a:ext cx="54864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3794760"/>
            <a:ext cx="5029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>
                <a:solidFill>
                  <a:srgbClr val="0B3C5D"/>
                </a:solidFill>
                <a:latin typeface="Calibri"/>
              </a:rPr>
              <a:t>Locum Placement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4069080"/>
            <a:ext cx="5029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D4AF37"/>
                </a:solidFill>
                <a:latin typeface="Calibri"/>
              </a:rPr>
              <a:t>10 to 15%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4343400"/>
            <a:ext cx="5029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Margin on locum shifts. Instant payment to professionals via Paystack.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63640" y="4663440"/>
            <a:ext cx="5486400" cy="9144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92240" y="4754880"/>
            <a:ext cx="5029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>
                <a:solidFill>
                  <a:srgbClr val="0B3C5D"/>
                </a:solidFill>
                <a:latin typeface="Calibri"/>
              </a:rPr>
              <a:t>International Recruitment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5029200"/>
            <a:ext cx="5029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D4AF37"/>
                </a:solidFill>
                <a:latin typeface="Calibri"/>
              </a:rPr>
              <a:t>Custom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5303520"/>
            <a:ext cx="5029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Diaspora and returning professionals. Negotiated per mandate.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0B3C5D"/>
                </a:solidFill>
                <a:latin typeface="Calibri"/>
              </a:rPr>
              <a:t>ANCHOR: Traditional headhunters charge 25 to 35% with no replacement guarantee. Our subscription plus placement model is structurally cheaper at any hire volume above 2 per year.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6601968"/>
            <a:ext cx="73152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consultforafrica.com  |  Maarova  |  CadreHealth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85455" y="6601968"/>
            <a:ext cx="402336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10 of 17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CONSULT FOR AFRICA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91440"/>
            <a:ext cx="12801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100" b="1">
                <a:solidFill>
                  <a:srgbClr val="D4AF37"/>
                </a:solidFill>
                <a:latin typeface="Calibri"/>
              </a:rPr>
              <a:t>SLIDE 11</a:t>
            </a:r>
          </a:p>
        </p:txBody>
      </p:sp>
      <p:pic>
        <p:nvPicPr>
          <p:cNvPr id="5" name="Picture 4" descr="c4a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2880" y="45720"/>
            <a:ext cx="387626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777240"/>
            <a:ext cx="110642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>
                <a:solidFill>
                  <a:srgbClr val="D4AF37"/>
                </a:solidFill>
                <a:latin typeface="Calibri"/>
              </a:rPr>
              <a:t>COMMERCIALS  /  BUNDLE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1106424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Calibri"/>
              </a:rPr>
              <a:t>The integrated stack: best per-naira value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731520" cy="457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194560"/>
            <a:ext cx="2697480" cy="402336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377440"/>
            <a:ext cx="24231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1">
                <a:solidFill>
                  <a:srgbClr val="0B3C5D"/>
                </a:solidFill>
                <a:latin typeface="Calibri"/>
              </a:rPr>
              <a:t>UNDER 50 BEDS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651760"/>
            <a:ext cx="24231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700" b="1">
                <a:solidFill>
                  <a:srgbClr val="111827"/>
                </a:solidFill>
                <a:latin typeface="Calibri"/>
              </a:rPr>
              <a:t>Boutique Stack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246120"/>
            <a:ext cx="24231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D4AF37"/>
                </a:solidFill>
                <a:latin typeface="Calibri"/>
              </a:rPr>
              <a:t>N6M to N10M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703320"/>
            <a:ext cx="24231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First year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069080"/>
            <a:ext cx="2423160" cy="2103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• Maarova for 2 leaders (assessment + 1:1)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111827"/>
                </a:solidFill>
                <a:latin typeface="Calibri"/>
              </a:rPr>
              <a:t>• CadreHealth Verified Profile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111827"/>
                </a:solidFill>
                <a:latin typeface="Calibri"/>
              </a:rPr>
              <a:t>• 2 placements credit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111827"/>
                </a:solidFill>
                <a:latin typeface="Calibri"/>
              </a:rPr>
              <a:t>• Annual leadership check-in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83280" y="2194560"/>
            <a:ext cx="2697480" cy="402336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0440" y="2377440"/>
            <a:ext cx="24231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1">
                <a:solidFill>
                  <a:srgbClr val="0B3C5D"/>
                </a:solidFill>
                <a:latin typeface="Calibri"/>
              </a:rPr>
              <a:t>50 TO 150 BEDS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2651760"/>
            <a:ext cx="24231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700" b="1">
                <a:solidFill>
                  <a:srgbClr val="111827"/>
                </a:solidFill>
                <a:latin typeface="Calibri"/>
              </a:rPr>
              <a:t>Foundation Stack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3246120"/>
            <a:ext cx="24231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D4AF37"/>
                </a:solidFill>
                <a:latin typeface="Calibri"/>
              </a:rPr>
              <a:t>N15M to N25M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3703320"/>
            <a:ext cx="24231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First year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0440" y="4069080"/>
            <a:ext cx="2423160" cy="2103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• Maarova for 5 leaders (assessment + 1:1)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111827"/>
                </a:solidFill>
                <a:latin typeface="Calibri"/>
              </a:rPr>
              <a:t>• CadreHealth Talent Search subscription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111827"/>
                </a:solidFill>
                <a:latin typeface="Calibri"/>
              </a:rPr>
              <a:t>• 5 placements credit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111827"/>
                </a:solidFill>
                <a:latin typeface="Calibri"/>
              </a:rPr>
              <a:t>• Quarterly leadership review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2194560"/>
            <a:ext cx="2697480" cy="402336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2194560"/>
            <a:ext cx="2697480" cy="2743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2212848"/>
            <a:ext cx="242316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1">
                <a:solidFill>
                  <a:srgbClr val="0B3C5D"/>
                </a:solidFill>
                <a:latin typeface="Calibri"/>
              </a:rPr>
              <a:t>RECOMMENDED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2560320"/>
            <a:ext cx="24231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1">
                <a:solidFill>
                  <a:srgbClr val="D4AF37"/>
                </a:solidFill>
                <a:latin typeface="Calibri"/>
              </a:rPr>
              <a:t>150 TO 350 BEDS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2834640"/>
            <a:ext cx="24231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Calibri"/>
              </a:rPr>
              <a:t>Growth Stack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3429000"/>
            <a:ext cx="24231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D4AF37"/>
                </a:solidFill>
                <a:latin typeface="Calibri"/>
              </a:rPr>
              <a:t>N35M to N55M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3886200"/>
            <a:ext cx="24231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First year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4251960"/>
            <a:ext cx="2423160" cy="2103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• Maarova Enterprise Cohort of 10 leaders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FFFFFF"/>
                </a:solidFill>
                <a:latin typeface="Calibri"/>
              </a:rPr>
              <a:t>• Executive retreat included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FFFFFF"/>
                </a:solidFill>
                <a:latin typeface="Calibri"/>
              </a:rPr>
              <a:t>• CadreHealth Workforce Intelligence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FFFFFF"/>
                </a:solidFill>
                <a:latin typeface="Calibri"/>
              </a:rPr>
              <a:t>• 12 placements credit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FFFFFF"/>
                </a:solidFill>
                <a:latin typeface="Calibri"/>
              </a:rPr>
              <a:t>• Half-yearly board reporting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052560" y="2194560"/>
            <a:ext cx="2697480" cy="402336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89720" y="2377440"/>
            <a:ext cx="24231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1">
                <a:solidFill>
                  <a:srgbClr val="0B3C5D"/>
                </a:solidFill>
                <a:latin typeface="Calibri"/>
              </a:rPr>
              <a:t>350+ BEDS / MULTI-SITE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89720" y="2651760"/>
            <a:ext cx="24231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700" b="1">
                <a:solidFill>
                  <a:srgbClr val="111827"/>
                </a:solidFill>
                <a:latin typeface="Calibri"/>
              </a:rPr>
              <a:t>Enterprise Stack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89720" y="3246120"/>
            <a:ext cx="24231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D4AF37"/>
                </a:solidFill>
                <a:latin typeface="Calibri"/>
              </a:rPr>
              <a:t>From N75M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89720" y="3703320"/>
            <a:ext cx="24231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First year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89720" y="4069080"/>
            <a:ext cx="2423160" cy="2103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• Maarova for 20+ leaders, multi-site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111827"/>
                </a:solidFill>
                <a:latin typeface="Calibri"/>
              </a:rPr>
              <a:t>• Two retreats per year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111827"/>
                </a:solidFill>
                <a:latin typeface="Calibri"/>
              </a:rPr>
              <a:t>• CadreHealth multi-facility deployment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111827"/>
                </a:solidFill>
                <a:latin typeface="Calibri"/>
              </a:rPr>
              <a:t>• 25+ placements credit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111827"/>
                </a:solidFill>
                <a:latin typeface="Calibri"/>
              </a:rPr>
              <a:t>• Dedicated CFA engagement manager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00" b="1">
                <a:solidFill>
                  <a:srgbClr val="0B3C5D"/>
                </a:solidFill>
                <a:latin typeface="Calibri"/>
              </a:rPr>
              <a:t>Placements above the credit pool charged at standard 20 to 25% of first-year compensation. Bundle savings of 15 to 25% versus à la carte.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6601968"/>
            <a:ext cx="73152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consultforafrica.com  |  Maarova  |  CadreHealth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85455" y="6601968"/>
            <a:ext cx="402336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11 of 17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CONSULT FOR AFRICA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91440"/>
            <a:ext cx="12801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100" b="1">
                <a:solidFill>
                  <a:srgbClr val="D4AF37"/>
                </a:solidFill>
                <a:latin typeface="Calibri"/>
              </a:rPr>
              <a:t>SLIDE 12</a:t>
            </a:r>
          </a:p>
        </p:txBody>
      </p:sp>
      <p:pic>
        <p:nvPicPr>
          <p:cNvPr id="5" name="Picture 4" descr="c4a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2880" y="45720"/>
            <a:ext cx="387626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777240"/>
            <a:ext cx="110642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>
                <a:solidFill>
                  <a:srgbClr val="D4AF37"/>
                </a:solidFill>
                <a:latin typeface="Calibri"/>
              </a:rPr>
              <a:t>COMMERCIALS  /  PAYBACK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1106424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Calibri"/>
              </a:rPr>
              <a:t>The ROI math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731520" cy="457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194560"/>
            <a:ext cx="3611880" cy="34747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194560"/>
            <a:ext cx="3611880" cy="7315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468880"/>
            <a:ext cx="315468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0B3C5D"/>
                </a:solidFill>
                <a:latin typeface="Calibri"/>
              </a:rPr>
              <a:t>Avoid one bad senior hire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200400"/>
            <a:ext cx="315468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You save</a:t>
            </a:r>
          </a:p>
          <a:p>
            <a:pPr algn="l">
              <a:spcBef>
                <a:spcPts val="200"/>
              </a:spcBef>
            </a:pPr>
            <a:r>
              <a:rPr sz="3200" b="1">
                <a:solidFill>
                  <a:srgbClr val="D4AF37"/>
                </a:solidFill>
                <a:latin typeface="Calibri"/>
              </a:rPr>
              <a:t>N20M+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389120"/>
            <a:ext cx="315468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Foundation Stack: N15 to 25M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83480"/>
            <a:ext cx="315468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1F7A8C"/>
                </a:solidFill>
                <a:latin typeface="Calibri"/>
              </a:rPr>
              <a:t>Pays for itself with one prevented mis-hire.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3400" y="2194560"/>
            <a:ext cx="3611880" cy="34747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2194560"/>
            <a:ext cx="3611880" cy="7315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2468880"/>
            <a:ext cx="315468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0B3C5D"/>
                </a:solidFill>
                <a:latin typeface="Calibri"/>
              </a:rPr>
              <a:t>Reduce attrition by 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3200400"/>
            <a:ext cx="315468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You save</a:t>
            </a:r>
          </a:p>
          <a:p>
            <a:pPr algn="l">
              <a:spcBef>
                <a:spcPts val="200"/>
              </a:spcBef>
            </a:pPr>
            <a:r>
              <a:rPr sz="3200" b="1">
                <a:solidFill>
                  <a:srgbClr val="D4AF37"/>
                </a:solidFill>
                <a:latin typeface="Calibri"/>
              </a:rPr>
              <a:t>N40M+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4389120"/>
            <a:ext cx="315468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200-bed hospital, 600 staff at avg N1M/yr churn cost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4983480"/>
            <a:ext cx="315468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1F7A8C"/>
                </a:solidFill>
                <a:latin typeface="Calibri"/>
              </a:rPr>
              <a:t>Growth Stack pays back in under 12 months.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38160" y="2194560"/>
            <a:ext cx="3611880" cy="34747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38160" y="2194560"/>
            <a:ext cx="3611880" cy="7315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66760" y="2468880"/>
            <a:ext cx="315468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0B3C5D"/>
                </a:solidFill>
                <a:latin typeface="Calibri"/>
              </a:rPr>
              <a:t>One leader who scales 3 more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3200400"/>
            <a:ext cx="315468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You save</a:t>
            </a:r>
          </a:p>
          <a:p>
            <a:pPr algn="l">
              <a:spcBef>
                <a:spcPts val="200"/>
              </a:spcBef>
            </a:pPr>
            <a:r>
              <a:rPr sz="3200" b="1">
                <a:solidFill>
                  <a:srgbClr val="D4AF37"/>
                </a:solidFill>
                <a:latin typeface="Calibri"/>
              </a:rPr>
              <a:t>Compounding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4389120"/>
            <a:ext cx="315468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Cost of NOT developing top leadership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4983480"/>
            <a:ext cx="315468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1F7A8C"/>
                </a:solidFill>
                <a:latin typeface="Calibri"/>
              </a:rPr>
              <a:t>The compounding return that no benchmark fully captures.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300" b="1">
                <a:solidFill>
                  <a:srgbClr val="0B3C5D"/>
                </a:solidFill>
                <a:latin typeface="Calibri"/>
              </a:rPr>
              <a:t>Healthcare leadership and workforce decisions are not a cost line. They are the highest-leverage investment a hospital makes.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6601968"/>
            <a:ext cx="73152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consultforafrica.com  |  Maarova  |  CadreHealth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85455" y="6601968"/>
            <a:ext cx="402336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12 of 17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CONSULT FOR AFRICA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91440"/>
            <a:ext cx="12801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100" b="1">
                <a:solidFill>
                  <a:srgbClr val="D4AF37"/>
                </a:solidFill>
                <a:latin typeface="Calibri"/>
              </a:rPr>
              <a:t>SLIDE 13</a:t>
            </a:r>
          </a:p>
        </p:txBody>
      </p:sp>
      <p:pic>
        <p:nvPicPr>
          <p:cNvPr id="5" name="Picture 4" descr="c4a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2880" y="45720"/>
            <a:ext cx="387626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777240"/>
            <a:ext cx="110642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>
                <a:solidFill>
                  <a:srgbClr val="D4AF37"/>
                </a:solidFill>
                <a:latin typeface="Calibri"/>
              </a:rPr>
              <a:t>ENGAGEMENT PATH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1106424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Calibri"/>
              </a:rPr>
              <a:t>How we start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731520" cy="457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377440"/>
            <a:ext cx="2697480" cy="3291840"/>
          </a:xfrm>
          <a:prstGeom prst="rect">
            <a:avLst/>
          </a:prstGeom>
          <a:solidFill>
            <a:srgbClr val="FFFFFF"/>
          </a:solidFill>
          <a:ln>
            <a:solidFill>
              <a:srgbClr val="0B3C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377440"/>
            <a:ext cx="2697480" cy="54864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496312"/>
            <a:ext cx="22402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  <a:latin typeface="Calibri"/>
              </a:rPr>
              <a:t>WEEK 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154680"/>
            <a:ext cx="224028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0B3C5D"/>
                </a:solidFill>
                <a:latin typeface="Calibri"/>
              </a:rPr>
              <a:t>Discovery Call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840480"/>
            <a:ext cx="2240280" cy="1737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30-minute call. We understand your context. No deck on our end, just questions.</a:t>
            </a:r>
          </a:p>
        </p:txBody>
      </p:sp>
      <p:sp>
        <p:nvSpPr>
          <p:cNvPr id="14" name="Oval 13"/>
          <p:cNvSpPr/>
          <p:nvPr/>
        </p:nvSpPr>
        <p:spPr>
          <a:xfrm>
            <a:off x="2651760" y="2148840"/>
            <a:ext cx="457200" cy="457200"/>
          </a:xfrm>
          <a:prstGeom prst="ellipse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800" b="1">
                <a:solidFill>
                  <a:srgbClr val="0B3C5D"/>
                </a:solidFill>
                <a:latin typeface="Calibri"/>
              </a:rPr>
              <a:t>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83280" y="2377440"/>
            <a:ext cx="2697480" cy="3291840"/>
          </a:xfrm>
          <a:prstGeom prst="rect">
            <a:avLst/>
          </a:prstGeom>
          <a:solidFill>
            <a:srgbClr val="FFFFFF"/>
          </a:solidFill>
          <a:ln>
            <a:solidFill>
              <a:srgbClr val="0B3C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83280" y="2377440"/>
            <a:ext cx="2697480" cy="54864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11880" y="2496312"/>
            <a:ext cx="22402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  <a:latin typeface="Calibri"/>
              </a:rPr>
              <a:t>WEEK 1 TO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3154680"/>
            <a:ext cx="224028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0B3C5D"/>
                </a:solidFill>
                <a:latin typeface="Calibri"/>
              </a:rPr>
              <a:t>Diagnostic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80" y="3840480"/>
            <a:ext cx="2240280" cy="1737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Light-touch leadership and workforce diagnostic. Combination of interviews and platform data.</a:t>
            </a:r>
          </a:p>
        </p:txBody>
      </p:sp>
      <p:sp>
        <p:nvSpPr>
          <p:cNvPr id="20" name="Oval 19"/>
          <p:cNvSpPr/>
          <p:nvPr/>
        </p:nvSpPr>
        <p:spPr>
          <a:xfrm>
            <a:off x="5486400" y="2148840"/>
            <a:ext cx="457200" cy="457200"/>
          </a:xfrm>
          <a:prstGeom prst="ellipse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800" b="1">
                <a:solidFill>
                  <a:srgbClr val="0B3C5D"/>
                </a:solidFill>
                <a:latin typeface="Calibri"/>
              </a:rPr>
              <a:t>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2377440"/>
            <a:ext cx="2697480" cy="3291840"/>
          </a:xfrm>
          <a:prstGeom prst="rect">
            <a:avLst/>
          </a:prstGeom>
          <a:solidFill>
            <a:srgbClr val="FFFFFF"/>
          </a:solidFill>
          <a:ln>
            <a:solidFill>
              <a:srgbClr val="0B3C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2377440"/>
            <a:ext cx="2697480" cy="54864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2496312"/>
            <a:ext cx="22402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  <a:latin typeface="Calibri"/>
              </a:rPr>
              <a:t>WEEK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3154680"/>
            <a:ext cx="224028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0B3C5D"/>
                </a:solidFill>
                <a:latin typeface="Calibri"/>
              </a:rPr>
              <a:t>Tailored Proposal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3840480"/>
            <a:ext cx="2240280" cy="1737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Stack recommendation with named coaches, scope, timeline, and fixed pricing in NGN.</a:t>
            </a:r>
          </a:p>
        </p:txBody>
      </p:sp>
      <p:sp>
        <p:nvSpPr>
          <p:cNvPr id="26" name="Oval 25"/>
          <p:cNvSpPr/>
          <p:nvPr/>
        </p:nvSpPr>
        <p:spPr>
          <a:xfrm>
            <a:off x="8321040" y="2148840"/>
            <a:ext cx="457200" cy="457200"/>
          </a:xfrm>
          <a:prstGeom prst="ellipse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800" b="1">
                <a:solidFill>
                  <a:srgbClr val="0B3C5D"/>
                </a:solidFill>
                <a:latin typeface="Calibri"/>
              </a:rPr>
              <a:t>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52560" y="2377440"/>
            <a:ext cx="2697480" cy="3291840"/>
          </a:xfrm>
          <a:prstGeom prst="rect">
            <a:avLst/>
          </a:prstGeom>
          <a:solidFill>
            <a:srgbClr val="FFFFFF"/>
          </a:solidFill>
          <a:ln>
            <a:solidFill>
              <a:srgbClr val="0B3C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052560" y="2377440"/>
            <a:ext cx="2697480" cy="54864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81160" y="2496312"/>
            <a:ext cx="22402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  <a:latin typeface="Calibri"/>
              </a:rPr>
              <a:t>WEEK 4+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81160" y="3154680"/>
            <a:ext cx="224028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0B3C5D"/>
                </a:solidFill>
                <a:latin typeface="Calibri"/>
              </a:rPr>
              <a:t>Phased Rollout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81160" y="3840480"/>
            <a:ext cx="2240280" cy="1737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Pilot with one cohort or facility. Scale based on signal. No multi-year lock-in.</a:t>
            </a:r>
          </a:p>
        </p:txBody>
      </p:sp>
      <p:sp>
        <p:nvSpPr>
          <p:cNvPr id="32" name="Oval 31"/>
          <p:cNvSpPr/>
          <p:nvPr/>
        </p:nvSpPr>
        <p:spPr>
          <a:xfrm>
            <a:off x="11155680" y="2148840"/>
            <a:ext cx="457200" cy="457200"/>
          </a:xfrm>
          <a:prstGeom prst="ellipse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800" b="1">
                <a:solidFill>
                  <a:srgbClr val="0B3C5D"/>
                </a:solidFill>
                <a:latin typeface="Calibri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>
                <a:solidFill>
                  <a:srgbClr val="0B3C5D"/>
                </a:solidFill>
                <a:latin typeface="Calibri"/>
              </a:rPr>
              <a:t>No retainer. No multi-year commitment. You buy outcomes, not seat licenses.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6601968"/>
            <a:ext cx="73152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consultforafrica.com  |  Maarova  |  CadreHealth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85455" y="6601968"/>
            <a:ext cx="402336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13 of 17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CONSULT FOR AFRICA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91440"/>
            <a:ext cx="12801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100" b="1">
                <a:solidFill>
                  <a:srgbClr val="D4AF37"/>
                </a:solidFill>
                <a:latin typeface="Calibri"/>
              </a:rPr>
              <a:t>SLIDE 14</a:t>
            </a:r>
          </a:p>
        </p:txBody>
      </p:sp>
      <p:pic>
        <p:nvPicPr>
          <p:cNvPr id="5" name="Picture 4" descr="c4a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2880" y="45720"/>
            <a:ext cx="387626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731520"/>
            <a:ext cx="110642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  <a:latin typeface="Calibri"/>
              </a:rPr>
              <a:t>COMMERCIALS  /  WHY THE CFA FEE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51560"/>
            <a:ext cx="1106424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0B3C5D"/>
                </a:solidFill>
                <a:latin typeface="Calibri"/>
              </a:rPr>
              <a:t>What our fee actually pays for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691640"/>
            <a:ext cx="731520" cy="457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783080"/>
            <a:ext cx="110642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Calibri"/>
              </a:rPr>
              <a:t>Four layers of value the hospital does not build, hire, or carry alone.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331720"/>
            <a:ext cx="2697480" cy="274320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331720"/>
            <a:ext cx="2697480" cy="64008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377440"/>
            <a:ext cx="5486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D4AF37"/>
                </a:solidFill>
                <a:latin typeface="Calibr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377440"/>
            <a:ext cx="2057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Vetted Network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715768"/>
            <a:ext cx="242316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D4AF37"/>
                </a:solidFill>
                <a:latin typeface="Calibri"/>
              </a:rPr>
              <a:t>We have already done the sourcing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108960"/>
            <a:ext cx="2423160" cy="187451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• 4,300+ healthcare professionals, 16 cadres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111827"/>
                </a:solidFill>
                <a:latin typeface="Calibri"/>
              </a:rPr>
              <a:t>• Senior CFA consultant bench across functions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111827"/>
                </a:solidFill>
                <a:latin typeface="Calibri"/>
              </a:rPr>
              <a:t>• ICF-credentialed coaching panel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111827"/>
                </a:solidFill>
                <a:latin typeface="Calibri"/>
              </a:rPr>
              <a:t>• License verified, reference checked, ID confirmed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111827"/>
                </a:solidFill>
                <a:latin typeface="Calibri"/>
              </a:rPr>
              <a:t>• Skip the 6 to 12 month recruitment cycle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83280" y="2331720"/>
            <a:ext cx="2697480" cy="274320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83280" y="2331720"/>
            <a:ext cx="2697480" cy="64008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0440" y="2377440"/>
            <a:ext cx="5486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D4AF37"/>
                </a:solidFill>
                <a:latin typeface="Calibri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1920" y="2377440"/>
            <a:ext cx="2057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Statutory Machinery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0440" y="2715768"/>
            <a:ext cx="242316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D4AF37"/>
                </a:solidFill>
                <a:latin typeface="Calibri"/>
              </a:rPr>
              <a:t>Payroll, tax, pension, indemnity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40" y="3108960"/>
            <a:ext cx="2423160" cy="187451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• PAYE, pension, NHIS, NSITF, ITF, VAT, WHT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111827"/>
                </a:solidFill>
                <a:latin typeface="Calibri"/>
              </a:rPr>
              <a:t>• FIRS remittance and audit-ready records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111827"/>
                </a:solidFill>
                <a:latin typeface="Calibri"/>
              </a:rPr>
              <a:t>• Indemnity cover bundled (Turaco)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111827"/>
                </a:solidFill>
                <a:latin typeface="Calibri"/>
              </a:rPr>
              <a:t>• NDPR-compliant data handling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111827"/>
                </a:solidFill>
                <a:latin typeface="Calibri"/>
              </a:rPr>
              <a:t>• Contracts, IP, and exit management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2331720"/>
            <a:ext cx="2697480" cy="274320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0" y="2331720"/>
            <a:ext cx="2697480" cy="64008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2377440"/>
            <a:ext cx="5486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D4AF37"/>
                </a:solidFill>
                <a:latin typeface="Calibri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2377440"/>
            <a:ext cx="2057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Risk Backstop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2715768"/>
            <a:ext cx="242316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D4AF37"/>
                </a:solidFill>
                <a:latin typeface="Calibri"/>
              </a:rPr>
              <a:t>We carry the wrong-hire risk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3108960"/>
            <a:ext cx="2423160" cy="187451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• Replacement guarantee on every engagement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111827"/>
                </a:solidFill>
                <a:latin typeface="Calibri"/>
              </a:rPr>
              <a:t>• Performance accountability we own, not pass through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111827"/>
                </a:solidFill>
                <a:latin typeface="Calibri"/>
              </a:rPr>
              <a:t>• Escalation line to CFA partners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111827"/>
                </a:solidFill>
                <a:latin typeface="Calibri"/>
              </a:rPr>
              <a:t>• Substitute cover for cancelled locum shifts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111827"/>
                </a:solidFill>
                <a:latin typeface="Calibri"/>
              </a:rPr>
              <a:t>• If it goes wrong, it is our problem to fix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52560" y="2331720"/>
            <a:ext cx="2697480" cy="274320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52560" y="2331720"/>
            <a:ext cx="2697480" cy="640080"/>
          </a:xfrm>
          <a:prstGeom prst="rect">
            <a:avLst/>
          </a:prstGeom>
          <a:solidFill>
            <a:srgbClr val="14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89720" y="2377440"/>
            <a:ext cx="5486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D4AF37"/>
                </a:solidFill>
                <a:latin typeface="Calibri"/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0" y="2377440"/>
            <a:ext cx="2057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Institutional Capability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89720" y="2715768"/>
            <a:ext cx="242316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D4AF37"/>
                </a:solidFill>
                <a:latin typeface="Calibri"/>
              </a:rPr>
              <a:t>You hire the firm, not one person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89720" y="3108960"/>
            <a:ext cx="2423160" cy="187451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• Playbooks and frameworks the consultant brings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111827"/>
                </a:solidFill>
                <a:latin typeface="Calibri"/>
              </a:rPr>
              <a:t>• Cross-portfolio learning from other engagements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111827"/>
                </a:solidFill>
                <a:latin typeface="Calibri"/>
              </a:rPr>
              <a:t>• Coaching and development during placement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111827"/>
                </a:solidFill>
                <a:latin typeface="Calibri"/>
              </a:rPr>
              <a:t>• Advisory access from CFA partners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111827"/>
                </a:solidFill>
                <a:latin typeface="Calibri"/>
              </a:rPr>
              <a:t>• Knowledge stays even when the person changes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5212080"/>
            <a:ext cx="11064240" cy="384048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7240" y="5276088"/>
            <a:ext cx="1060704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  <a:latin typeface="Calibri"/>
              </a:rPr>
              <a:t>VS. THE ALTERNATIVES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5596128"/>
            <a:ext cx="2743200" cy="292608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" y="5641848"/>
            <a:ext cx="256032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0B3C5D"/>
                </a:solidFill>
                <a:latin typeface="Calibri"/>
              </a:rPr>
              <a:t>WHAT YOU NEED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91840" y="5596128"/>
            <a:ext cx="2743200" cy="292608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401568" y="5641848"/>
            <a:ext cx="256032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HIRE DIRECT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5040" y="5596128"/>
            <a:ext cx="2788920" cy="292608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44768" y="5641848"/>
            <a:ext cx="260604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TRADITIONAL AGENCY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823960" y="5596128"/>
            <a:ext cx="2788920" cy="292608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933688" y="5641848"/>
            <a:ext cx="260604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0B3C5D"/>
                </a:solidFill>
                <a:latin typeface="Calibri"/>
              </a:rPr>
              <a:t>WITH CFA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5888736"/>
            <a:ext cx="2743200" cy="2468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8368" y="5925312"/>
            <a:ext cx="256032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0B3C5D"/>
                </a:solidFill>
                <a:latin typeface="Calibri"/>
              </a:rPr>
              <a:t>Time to fill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91840" y="5888736"/>
            <a:ext cx="2743200" cy="2468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401568" y="5925312"/>
            <a:ext cx="256032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6 to 12 months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035040" y="5888736"/>
            <a:ext cx="2788920" cy="2468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44768" y="5925312"/>
            <a:ext cx="260604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2 to 3 months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823960" y="5888736"/>
            <a:ext cx="2788920" cy="246888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933688" y="5925312"/>
            <a:ext cx="260604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0B3C5D"/>
                </a:solidFill>
                <a:latin typeface="Calibri"/>
              </a:rPr>
              <a:t>2 to 4 weeks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8640" y="6135624"/>
            <a:ext cx="2743200" cy="246888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58368" y="6172200"/>
            <a:ext cx="256032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0B3C5D"/>
                </a:solidFill>
                <a:latin typeface="Calibri"/>
              </a:rPr>
              <a:t>Compliance burden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291840" y="6135624"/>
            <a:ext cx="2743200" cy="246888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401568" y="6172200"/>
            <a:ext cx="256032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All yours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035040" y="6135624"/>
            <a:ext cx="2788920" cy="246888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144768" y="6172200"/>
            <a:ext cx="260604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All yours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823960" y="6135624"/>
            <a:ext cx="2788920" cy="246888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933688" y="6172200"/>
            <a:ext cx="260604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0B3C5D"/>
                </a:solidFill>
                <a:latin typeface="Calibri"/>
              </a:rPr>
              <a:t>All ours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48640" y="6382512"/>
            <a:ext cx="2743200" cy="2468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58368" y="6419088"/>
            <a:ext cx="256032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0B3C5D"/>
                </a:solidFill>
                <a:latin typeface="Calibri"/>
              </a:rPr>
              <a:t>Replacement risk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291840" y="6382512"/>
            <a:ext cx="2743200" cy="2468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401568" y="6419088"/>
            <a:ext cx="256032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All yours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035040" y="6382512"/>
            <a:ext cx="2788920" cy="2468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144768" y="6419088"/>
            <a:ext cx="260604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Yours after 90 days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823960" y="6382512"/>
            <a:ext cx="2788920" cy="246888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933688" y="6419088"/>
            <a:ext cx="260604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0B3C5D"/>
                </a:solidFill>
                <a:latin typeface="Calibri"/>
              </a:rPr>
              <a:t>Ours, ongoing</a:t>
            </a:r>
          </a:p>
        </p:txBody>
      </p:sp>
      <p:sp>
        <p:nvSpPr>
          <p:cNvPr id="68" name="Rectangle 6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48640" y="6601968"/>
            <a:ext cx="73152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consultforafrica.com  |  Maarova  |  CadreHealth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985455" y="6601968"/>
            <a:ext cx="402336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14 of 17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CONSULT FOR AFRICA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91440"/>
            <a:ext cx="12801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100" b="1">
                <a:solidFill>
                  <a:srgbClr val="D4AF37"/>
                </a:solidFill>
                <a:latin typeface="Calibri"/>
              </a:rPr>
              <a:t>SLIDE 15</a:t>
            </a:r>
          </a:p>
        </p:txBody>
      </p:sp>
      <p:pic>
        <p:nvPicPr>
          <p:cNvPr id="5" name="Picture 4" descr="c4a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2880" y="45720"/>
            <a:ext cx="387626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777240"/>
            <a:ext cx="110642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  <a:latin typeface="Calibri"/>
              </a:rPr>
              <a:t>COMMERCIALS  /  MID-LEVEL SECONDMENTS AND LOCUM COVER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1106424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600" b="1">
                <a:solidFill>
                  <a:srgbClr val="0B3C5D"/>
                </a:solidFill>
                <a:latin typeface="Calibri"/>
              </a:rPr>
              <a:t>Operational managers and clinical cover, on demand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783080"/>
            <a:ext cx="731520" cy="457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11680"/>
            <a:ext cx="11064240" cy="384048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075688"/>
            <a:ext cx="1060704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  <a:latin typeface="Calibri"/>
              </a:rPr>
              <a:t>MID-LEVEL OPERATIONAL SECONDMENTS  /  MONTHLY RATE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395728"/>
            <a:ext cx="11064240" cy="292608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450592"/>
            <a:ext cx="32004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ROLE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2450592"/>
            <a:ext cx="201168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FULL-TIME / 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2450592"/>
            <a:ext cx="18288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FRACTIONAL / MO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2450592"/>
            <a:ext cx="36576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WHAT THEY OWN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688336"/>
            <a:ext cx="1106424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2779776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0B3C5D"/>
                </a:solidFill>
                <a:latin typeface="Calibri"/>
              </a:rPr>
              <a:t>Finance Manager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23360" y="2779776"/>
            <a:ext cx="20116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  <a:latin typeface="Calibri"/>
              </a:rPr>
              <a:t>N1.8M to N3M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80760" y="2779776"/>
            <a:ext cx="1828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1F7A8C"/>
                </a:solidFill>
                <a:latin typeface="Calibri"/>
              </a:rPr>
              <a:t>N700K to N1.2M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79" y="2798064"/>
            <a:ext cx="3657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  <a:latin typeface="Calibri"/>
              </a:rPr>
              <a:t>Month-end close, cash flow, payor reconciliation, board pack.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099816"/>
            <a:ext cx="11064240" cy="41148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3191256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0B3C5D"/>
                </a:solidFill>
                <a:latin typeface="Calibri"/>
              </a:rPr>
              <a:t>Supply Chain Manager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23360" y="3191256"/>
            <a:ext cx="20116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  <a:latin typeface="Calibri"/>
              </a:rPr>
              <a:t>N1.5M to N2.5M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80760" y="3191256"/>
            <a:ext cx="1828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1F7A8C"/>
                </a:solidFill>
                <a:latin typeface="Calibri"/>
              </a:rPr>
              <a:t>N600K to N1M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79" y="3209544"/>
            <a:ext cx="3657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  <a:latin typeface="Calibri"/>
              </a:rPr>
              <a:t>Procurement systems, vendor terms, stockout reduction, KPI dashboards.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511296"/>
            <a:ext cx="1106424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3602736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0B3C5D"/>
                </a:solidFill>
                <a:latin typeface="Calibri"/>
              </a:rPr>
              <a:t>Quality &amp; Compliance Manager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23360" y="3602736"/>
            <a:ext cx="20116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  <a:latin typeface="Calibri"/>
              </a:rPr>
              <a:t>N1.5M to N2.5M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80760" y="3602736"/>
            <a:ext cx="1828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1F7A8C"/>
                </a:solidFill>
                <a:latin typeface="Calibri"/>
              </a:rPr>
              <a:t>N600K to N1M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55279" y="3621024"/>
            <a:ext cx="3657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  <a:latin typeface="Calibri"/>
              </a:rPr>
              <a:t>JCI / SafeCare prep, clinical audit cycles, incident review systems.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3922776"/>
            <a:ext cx="11064240" cy="41148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4014216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0B3C5D"/>
                </a:solidFill>
                <a:latin typeface="Calibri"/>
              </a:rPr>
              <a:t>HR Manager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23360" y="4014216"/>
            <a:ext cx="20116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  <a:latin typeface="Calibri"/>
              </a:rPr>
              <a:t>N1.5M to N2.5M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80760" y="4014216"/>
            <a:ext cx="1828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1F7A8C"/>
                </a:solidFill>
                <a:latin typeface="Calibri"/>
              </a:rPr>
              <a:t>N600K to N1M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55279" y="4032504"/>
            <a:ext cx="3657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  <a:latin typeface="Calibri"/>
              </a:rPr>
              <a:t>Payroll discipline, performance reviews, retention, NMA / NARD navigation.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334256"/>
            <a:ext cx="1106424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" y="4425696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0B3C5D"/>
                </a:solidFill>
                <a:latin typeface="Calibri"/>
              </a:rPr>
              <a:t>IT / Health Information Manager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023360" y="4425696"/>
            <a:ext cx="20116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  <a:latin typeface="Calibri"/>
              </a:rPr>
              <a:t>N1.8M to N3M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80760" y="4425696"/>
            <a:ext cx="1828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1F7A8C"/>
                </a:solidFill>
                <a:latin typeface="Calibri"/>
              </a:rPr>
              <a:t>N700K to N1.2M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55279" y="4443984"/>
            <a:ext cx="3657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  <a:latin typeface="Calibri"/>
              </a:rPr>
              <a:t>EMR rollouts, data integrity, cybersecurity baseline, HMIS reporting.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4617720"/>
            <a:ext cx="7040880" cy="384048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77240" y="4681728"/>
            <a:ext cx="65836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LOCUM CLINICAL COVER  /  PER 8-12 HOUR SHIFT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5001768"/>
            <a:ext cx="7040880" cy="2468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77240" y="5038344"/>
            <a:ext cx="411480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0B3C5D"/>
                </a:solidFill>
                <a:latin typeface="Calibri"/>
              </a:rPr>
              <a:t>Consultant Specialist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937760" y="5038344"/>
            <a:ext cx="256032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D4AF37"/>
                </a:solidFill>
                <a:latin typeface="Calibri"/>
              </a:rPr>
              <a:t>N80K to N200K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8640" y="5248656"/>
            <a:ext cx="7040880" cy="246888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77240" y="5285232"/>
            <a:ext cx="411480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0B3C5D"/>
                </a:solidFill>
                <a:latin typeface="Calibri"/>
              </a:rPr>
              <a:t>Medical Officer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937760" y="5285232"/>
            <a:ext cx="256032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D4AF37"/>
                </a:solidFill>
                <a:latin typeface="Calibri"/>
              </a:rPr>
              <a:t>N20K to N50K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8640" y="5495544"/>
            <a:ext cx="7040880" cy="2468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77240" y="5532120"/>
            <a:ext cx="411480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0B3C5D"/>
                </a:solidFill>
                <a:latin typeface="Calibri"/>
              </a:rPr>
              <a:t>ICU / Theatre Nurse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937760" y="5532120"/>
            <a:ext cx="256032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D4AF37"/>
                </a:solidFill>
                <a:latin typeface="Calibri"/>
              </a:rPr>
              <a:t>N15K to N30K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8640" y="5742432"/>
            <a:ext cx="7040880" cy="246888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77240" y="5779008"/>
            <a:ext cx="411480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0B3C5D"/>
                </a:solidFill>
                <a:latin typeface="Calibri"/>
              </a:rPr>
              <a:t>General Nurse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937760" y="5779008"/>
            <a:ext cx="256032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D4AF37"/>
                </a:solidFill>
                <a:latin typeface="Calibri"/>
              </a:rPr>
              <a:t>N10K to N20K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48640" y="5989320"/>
            <a:ext cx="7040880" cy="2468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77240" y="6025896"/>
            <a:ext cx="411480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0B3C5D"/>
                </a:solidFill>
                <a:latin typeface="Calibri"/>
              </a:rPr>
              <a:t>Pharmacist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937760" y="6025896"/>
            <a:ext cx="256032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D4AF37"/>
                </a:solidFill>
                <a:latin typeface="Calibri"/>
              </a:rPr>
              <a:t>N20K to N40K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48640" y="6236208"/>
            <a:ext cx="7040880" cy="246888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77240" y="6272784"/>
            <a:ext cx="411480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0B3C5D"/>
                </a:solidFill>
                <a:latin typeface="Calibri"/>
              </a:rPr>
              <a:t>Lab Scientist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937760" y="6272784"/>
            <a:ext cx="256032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D4AF37"/>
                </a:solidFill>
                <a:latin typeface="Calibri"/>
              </a:rPr>
              <a:t>N15K to N30K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48640" y="6483096"/>
            <a:ext cx="7040880" cy="2468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77240" y="6519672"/>
            <a:ext cx="411480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0B3C5D"/>
                </a:solidFill>
                <a:latin typeface="Calibri"/>
              </a:rPr>
              <a:t>Radiographer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937760" y="6519672"/>
            <a:ext cx="256032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D4AF37"/>
                </a:solidFill>
                <a:latin typeface="Calibri"/>
              </a:rPr>
              <a:t>N25K to N50K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772400" y="4617720"/>
            <a:ext cx="3840480" cy="384048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955280" y="4681728"/>
            <a:ext cx="3657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  <a:latin typeface="Calibri"/>
              </a:rPr>
              <a:t>HOW LOCUM COVER WORKS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772400" y="5001768"/>
            <a:ext cx="3840480" cy="132588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955280" y="5093208"/>
            <a:ext cx="3657600" cy="11887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• Pay only when you book a shift</a:t>
            </a:r>
          </a:p>
          <a:p>
            <a:pPr algn="l">
              <a:spcBef>
                <a:spcPts val="500"/>
              </a:spcBef>
            </a:pPr>
            <a:r>
              <a:rPr sz="1000" b="0">
                <a:solidFill>
                  <a:srgbClr val="111827"/>
                </a:solidFill>
                <a:latin typeface="Calibri"/>
              </a:rPr>
              <a:t>• 10 to 15% platform margin on top of locum rate</a:t>
            </a:r>
          </a:p>
          <a:p>
            <a:pPr algn="l">
              <a:spcBef>
                <a:spcPts val="500"/>
              </a:spcBef>
            </a:pPr>
            <a:r>
              <a:rPr sz="1000" b="0">
                <a:solidFill>
                  <a:srgbClr val="111827"/>
                </a:solidFill>
                <a:latin typeface="Calibri"/>
              </a:rPr>
              <a:t>• 4,300+ verified professionals across 16 cadres</a:t>
            </a:r>
          </a:p>
          <a:p>
            <a:pPr algn="l">
              <a:spcBef>
                <a:spcPts val="500"/>
              </a:spcBef>
            </a:pPr>
            <a:r>
              <a:rPr sz="1000" b="0">
                <a:solidFill>
                  <a:srgbClr val="111827"/>
                </a:solidFill>
                <a:latin typeface="Calibri"/>
              </a:rPr>
              <a:t>• Indemnity insurance bundled (Turaco)</a:t>
            </a:r>
          </a:p>
          <a:p>
            <a:pPr algn="l">
              <a:spcBef>
                <a:spcPts val="500"/>
              </a:spcBef>
            </a:pPr>
            <a:r>
              <a:rPr sz="1000" b="0">
                <a:solidFill>
                  <a:srgbClr val="111827"/>
                </a:solidFill>
                <a:latin typeface="Calibri"/>
              </a:rPr>
              <a:t>• Paystack instant payout to professional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772400" y="6373368"/>
            <a:ext cx="3840480" cy="292608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955280" y="6409944"/>
            <a:ext cx="36576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0B3C5D"/>
                </a:solidFill>
                <a:latin typeface="Calibri"/>
              </a:rPr>
              <a:t>EXAMPLE MONTHLY SPEND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772400" y="6665976"/>
            <a:ext cx="3840480" cy="868680"/>
          </a:xfrm>
          <a:prstGeom prst="rect">
            <a:avLst/>
          </a:prstGeom>
          <a:solidFill>
            <a:srgbClr val="FFFFFF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955280" y="6739128"/>
            <a:ext cx="3657600" cy="777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1">
                <a:solidFill>
                  <a:srgbClr val="0B3C5D"/>
                </a:solidFill>
                <a:latin typeface="Calibri"/>
              </a:rPr>
              <a:t>20 nurse shifts + 8 MO shifts + 4 specialist days</a:t>
            </a:r>
          </a:p>
          <a:p>
            <a:pPr algn="l">
              <a:spcBef>
                <a:spcPts val="400"/>
              </a:spcBef>
            </a:pPr>
            <a:r>
              <a:rPr sz="1100" b="1">
                <a:solidFill>
                  <a:srgbClr val="D4AF37"/>
                </a:solidFill>
                <a:latin typeface="Calibri"/>
              </a:rPr>
              <a:t>≈ N900K to N1.5M / month, fully covered</a:t>
            </a:r>
          </a:p>
          <a:p>
            <a:pPr algn="l">
              <a:spcBef>
                <a:spcPts val="400"/>
              </a:spcBef>
            </a:pPr>
            <a:r>
              <a:rPr sz="900" b="0">
                <a:solidFill>
                  <a:srgbClr val="111827"/>
                </a:solidFill>
                <a:latin typeface="Calibri"/>
              </a:rPr>
              <a:t>vs. permanent backfill cost: N2.5M+ / month committed</a:t>
            </a:r>
          </a:p>
        </p:txBody>
      </p:sp>
      <p:sp>
        <p:nvSpPr>
          <p:cNvPr id="72" name="Rectangle 71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48640" y="6601968"/>
            <a:ext cx="73152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consultforafrica.com  |  Maarova  |  CadreHealth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985455" y="6601968"/>
            <a:ext cx="402336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15 of 17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CONSULT FOR AFRICA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91440"/>
            <a:ext cx="12801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100" b="1">
                <a:solidFill>
                  <a:srgbClr val="D4AF37"/>
                </a:solidFill>
                <a:latin typeface="Calibri"/>
              </a:rPr>
              <a:t>SLIDE 16</a:t>
            </a:r>
          </a:p>
        </p:txBody>
      </p:sp>
      <p:pic>
        <p:nvPicPr>
          <p:cNvPr id="5" name="Picture 4" descr="c4a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2880" y="45720"/>
            <a:ext cx="387626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777240"/>
            <a:ext cx="110642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  <a:latin typeface="Calibri"/>
              </a:rPr>
              <a:t>COMMERCIALS  /  ECONOMICS AND TRANSPARENCY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1106424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200" b="1">
                <a:solidFill>
                  <a:srgbClr val="0B3C5D"/>
                </a:solidFill>
                <a:latin typeface="Calibri"/>
              </a:rPr>
              <a:t>Where every naira goes: hospital, taxes, CFA, professional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783080"/>
            <a:ext cx="731520" cy="457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11680"/>
            <a:ext cx="3749039" cy="425196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011680"/>
            <a:ext cx="3749039" cy="50292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057400"/>
            <a:ext cx="3474719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1">
                <a:solidFill>
                  <a:srgbClr val="D4AF37"/>
                </a:solidFill>
                <a:latin typeface="Calibri"/>
              </a:rPr>
              <a:t>SENIOR FRACTIONAL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258568"/>
            <a:ext cx="3474719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Fractional CMO at N5M / month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2651760"/>
            <a:ext cx="3474719" cy="310896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" y="2697480"/>
            <a:ext cx="1463039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Hospital invoice (ex VAT)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2697480"/>
            <a:ext cx="173736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N5,000,000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2999232"/>
            <a:ext cx="3474719" cy="2743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8" y="3035808"/>
            <a:ext cx="1645919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  <a:latin typeface="Calibri"/>
              </a:rPr>
              <a:t>+ VAT 7.5% (input credit if registered)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79" y="3035808"/>
            <a:ext cx="155448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900" b="1">
                <a:solidFill>
                  <a:srgbClr val="111827"/>
                </a:solidFill>
                <a:latin typeface="Calibri"/>
              </a:rPr>
              <a:t>N375,000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3291840"/>
            <a:ext cx="3474719" cy="2743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5528" y="3328416"/>
            <a:ext cx="1645919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  <a:latin typeface="Calibri"/>
              </a:rPr>
              <a:t>- WHT 10% (remitted to FIRS)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68879" y="3328416"/>
            <a:ext cx="155448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900" b="1">
                <a:solidFill>
                  <a:srgbClr val="111827"/>
                </a:solidFill>
                <a:latin typeface="Calibri"/>
              </a:rPr>
              <a:t>N500,000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3657600"/>
            <a:ext cx="3474719" cy="310896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5528" y="3703320"/>
            <a:ext cx="1463039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0B3C5D"/>
                </a:solidFill>
                <a:latin typeface="Calibri"/>
              </a:rPr>
              <a:t>CFA platform fee (25%)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6000" y="3703320"/>
            <a:ext cx="173736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1">
                <a:solidFill>
                  <a:srgbClr val="0B3C5D"/>
                </a:solidFill>
                <a:latin typeface="Calibri"/>
              </a:rPr>
              <a:t>N1,250,000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" y="4041648"/>
            <a:ext cx="3474719" cy="310896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5528" y="4087368"/>
            <a:ext cx="1463039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Professional gross (contractor)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86000" y="4087368"/>
            <a:ext cx="173736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N3,750,000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" y="4389120"/>
            <a:ext cx="3474719" cy="2743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5528" y="4425696"/>
            <a:ext cx="1645919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  <a:latin typeface="Calibri"/>
              </a:rPr>
              <a:t>- Professional own PIT (~25%)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68879" y="4425696"/>
            <a:ext cx="155448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900" b="1">
                <a:solidFill>
                  <a:srgbClr val="111827"/>
                </a:solidFill>
                <a:latin typeface="Calibri"/>
              </a:rPr>
              <a:t>N940,000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5800" y="4754880"/>
            <a:ext cx="3474719" cy="310896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5528" y="4800600"/>
            <a:ext cx="1463039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Professional net cash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86000" y="4800600"/>
            <a:ext cx="173736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N2,810,000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5852160"/>
            <a:ext cx="3474719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Calibri"/>
              </a:rPr>
              <a:t>Senior contractor model. Professional invoices CFA, handles own taxes.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434839" y="2011680"/>
            <a:ext cx="3749039" cy="425196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434839" y="2011680"/>
            <a:ext cx="3749039" cy="50292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1999" y="2057400"/>
            <a:ext cx="3474719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1">
                <a:solidFill>
                  <a:srgbClr val="D4AF37"/>
                </a:solidFill>
                <a:latin typeface="Calibri"/>
              </a:rPr>
              <a:t>MID-LEVEL SECONDMENT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1999" y="2258568"/>
            <a:ext cx="3474719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Finance Manager at N2M / month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1999" y="2651760"/>
            <a:ext cx="3474719" cy="310896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681727" y="2697480"/>
            <a:ext cx="1463039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Hospital invoice (ex VAT)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72199" y="2697480"/>
            <a:ext cx="173736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N2,000,000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1999" y="2999232"/>
            <a:ext cx="3474719" cy="2743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681727" y="3035808"/>
            <a:ext cx="1645919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  <a:latin typeface="Calibri"/>
              </a:rPr>
              <a:t>+ VAT 7.5%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55078" y="3035808"/>
            <a:ext cx="155448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900" b="1">
                <a:solidFill>
                  <a:srgbClr val="111827"/>
                </a:solidFill>
                <a:latin typeface="Calibri"/>
              </a:rPr>
              <a:t>N150,000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1999" y="3291840"/>
            <a:ext cx="3474719" cy="2743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681727" y="3328416"/>
            <a:ext cx="1645919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  <a:latin typeface="Calibri"/>
              </a:rPr>
              <a:t>- WHT 10% (FIRS)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55078" y="3328416"/>
            <a:ext cx="155448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900" b="1">
                <a:solidFill>
                  <a:srgbClr val="111827"/>
                </a:solidFill>
                <a:latin typeface="Calibri"/>
              </a:rPr>
              <a:t>N200,000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1999" y="3657600"/>
            <a:ext cx="3474719" cy="310896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681727" y="3703320"/>
            <a:ext cx="1463039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0B3C5D"/>
                </a:solidFill>
                <a:latin typeface="Calibri"/>
              </a:rPr>
              <a:t>CFA platform fee (20%)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72199" y="3703320"/>
            <a:ext cx="173736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1">
                <a:solidFill>
                  <a:srgbClr val="0B3C5D"/>
                </a:solidFill>
                <a:latin typeface="Calibri"/>
              </a:rPr>
              <a:t>N400,000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71999" y="4005072"/>
            <a:ext cx="3474719" cy="2743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681727" y="4041648"/>
            <a:ext cx="1645919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  <a:latin typeface="Calibri"/>
              </a:rPr>
              <a:t>Employer pension + NSITF + ITF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55078" y="4041648"/>
            <a:ext cx="155448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900" b="1">
                <a:solidFill>
                  <a:srgbClr val="111827"/>
                </a:solidFill>
                <a:latin typeface="Calibri"/>
              </a:rPr>
              <a:t>N190,000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71999" y="4370832"/>
            <a:ext cx="3474719" cy="310896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681727" y="4416552"/>
            <a:ext cx="1463039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Professional gross salary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172199" y="4416552"/>
            <a:ext cx="173736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N1,410,000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571999" y="4718304"/>
            <a:ext cx="3474719" cy="2743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681727" y="4754880"/>
            <a:ext cx="1645919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  <a:latin typeface="Calibri"/>
              </a:rPr>
              <a:t>- PAYE + pension + NHIS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355078" y="4754880"/>
            <a:ext cx="155448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900" b="1">
                <a:solidFill>
                  <a:srgbClr val="111827"/>
                </a:solidFill>
                <a:latin typeface="Calibri"/>
              </a:rPr>
              <a:t>N390,000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571999" y="5084064"/>
            <a:ext cx="3474719" cy="310896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681727" y="5129784"/>
            <a:ext cx="1463039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Professional take-home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172199" y="5129784"/>
            <a:ext cx="173736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N1,020,000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571999" y="5852160"/>
            <a:ext cx="3474719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Calibri"/>
              </a:rPr>
              <a:t>CFA is employer of record. Full statutory compliance handled.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321038" y="2011680"/>
            <a:ext cx="3749039" cy="425196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321038" y="2011680"/>
            <a:ext cx="3749039" cy="5029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458198" y="2057400"/>
            <a:ext cx="3474719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1">
                <a:solidFill>
                  <a:srgbClr val="0B3C5D"/>
                </a:solidFill>
                <a:latin typeface="Calibri"/>
              </a:rPr>
              <a:t>LOCUM CLINICAL COVER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458198" y="2258568"/>
            <a:ext cx="3474719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>
                <a:solidFill>
                  <a:srgbClr val="0B3C5D"/>
                </a:solidFill>
                <a:latin typeface="Calibri"/>
              </a:rPr>
              <a:t>Medical Officer shift at N35K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458198" y="2651760"/>
            <a:ext cx="3474719" cy="310896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567926" y="2697480"/>
            <a:ext cx="1463039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Hospital pays per shift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058398" y="2697480"/>
            <a:ext cx="173736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N35,000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458198" y="2999232"/>
            <a:ext cx="3474719" cy="2743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567926" y="3035808"/>
            <a:ext cx="1645919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  <a:latin typeface="Calibri"/>
              </a:rPr>
              <a:t>- WHT 5% (individual, FIRS)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241277" y="3035808"/>
            <a:ext cx="155448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900" b="1">
                <a:solidFill>
                  <a:srgbClr val="111827"/>
                </a:solidFill>
                <a:latin typeface="Calibri"/>
              </a:rPr>
              <a:t>N1,750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458198" y="3364992"/>
            <a:ext cx="3474719" cy="310896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567926" y="3410712"/>
            <a:ext cx="1463039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0B3C5D"/>
                </a:solidFill>
                <a:latin typeface="Calibri"/>
              </a:rPr>
              <a:t>CFA platform margin (12%)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058398" y="3410712"/>
            <a:ext cx="173736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1">
                <a:solidFill>
                  <a:srgbClr val="0B3C5D"/>
                </a:solidFill>
                <a:latin typeface="Calibri"/>
              </a:rPr>
              <a:t>N4,200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458198" y="3749040"/>
            <a:ext cx="3474719" cy="310896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567926" y="3794760"/>
            <a:ext cx="1463039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Professional payout (instant)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058398" y="3794760"/>
            <a:ext cx="173736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N29,050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458198" y="4096512"/>
            <a:ext cx="3474719" cy="2743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567926" y="4133088"/>
            <a:ext cx="1645919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  <a:latin typeface="Calibri"/>
              </a:rPr>
              <a:t>Indemnity (Turaco) bundled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241277" y="4133088"/>
            <a:ext cx="155448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900" b="1">
                <a:solidFill>
                  <a:srgbClr val="111827"/>
                </a:solidFill>
                <a:latin typeface="Calibri"/>
              </a:rPr>
              <a:t>Included</a:t>
            </a:r>
          </a:p>
        </p:txBody>
      </p:sp>
      <p:sp>
        <p:nvSpPr>
          <p:cNvPr id="83" name="Rectangle 82"/>
          <p:cNvSpPr/>
          <p:nvPr/>
        </p:nvSpPr>
        <p:spPr>
          <a:xfrm>
            <a:off x="8458198" y="4389120"/>
            <a:ext cx="3474719" cy="2743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567926" y="4425696"/>
            <a:ext cx="1645919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  <a:latin typeface="Calibri"/>
              </a:rPr>
              <a:t>Professional own annual PIT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241277" y="4425696"/>
            <a:ext cx="155448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900" b="1">
                <a:solidFill>
                  <a:srgbClr val="111827"/>
                </a:solidFill>
                <a:latin typeface="Calibri"/>
              </a:rPr>
              <a:t>Self-managed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458198" y="4754880"/>
            <a:ext cx="3474719" cy="310896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567926" y="4800600"/>
            <a:ext cx="1463039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Net cash to professional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058398" y="4800600"/>
            <a:ext cx="173736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N29,050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458198" y="5852160"/>
            <a:ext cx="3474719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Calibri"/>
              </a:rPr>
              <a:t>Per-shift contractor. Paid via Paystack within 24 hours of shift.</a:t>
            </a:r>
          </a:p>
        </p:txBody>
      </p:sp>
      <p:sp>
        <p:nvSpPr>
          <p:cNvPr id="90" name="Rectangle 89"/>
          <p:cNvSpPr/>
          <p:nvPr/>
        </p:nvSpPr>
        <p:spPr>
          <a:xfrm>
            <a:off x="0" y="6400800"/>
            <a:ext cx="12191695" cy="18288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48640" y="6400800"/>
            <a:ext cx="1106424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Statutory taxes (VAT, WHT, PAYE, pension) flow to government and pension funds. CFA fee covers sourcing, vetting, payroll, indemnity, and ongoing support.</a:t>
            </a:r>
          </a:p>
        </p:txBody>
      </p:sp>
      <p:sp>
        <p:nvSpPr>
          <p:cNvPr id="92" name="Rectangle 91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548640" y="6601968"/>
            <a:ext cx="73152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consultforafrica.com  |  Maarova  |  CadreHealth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985455" y="6601968"/>
            <a:ext cx="402336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16 of 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4a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48640"/>
            <a:ext cx="2693902" cy="640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210312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D4AF37"/>
                </a:solidFill>
                <a:latin typeface="Calibri"/>
              </a:rPr>
              <a:t>NEXT 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560320"/>
            <a:ext cx="10972800" cy="1828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Calibri"/>
              </a:rPr>
              <a:t>Book a 30-minute discovery call.</a:t>
            </a:r>
          </a:p>
          <a:p>
            <a:pPr algn="l">
              <a:spcBef>
                <a:spcPts val="1500"/>
              </a:spcBef>
            </a:pPr>
            <a:r>
              <a:rPr sz="2200" b="0">
                <a:solidFill>
                  <a:srgbClr val="D4AF37"/>
                </a:solidFill>
                <a:latin typeface="Calibri"/>
              </a:rPr>
              <a:t>We will map your specific gaps and send a tailored proposal within 7 days.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4937760"/>
            <a:ext cx="11064240" cy="14630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5074920"/>
            <a:ext cx="106070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  <a:latin typeface="Calibri"/>
              </a:rPr>
              <a:t>CONTACT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394960"/>
            <a:ext cx="502920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0B3C5D"/>
                </a:solidFill>
                <a:latin typeface="Calibri"/>
              </a:rPr>
              <a:t>Consult For Africa</a:t>
            </a:r>
          </a:p>
          <a:p>
            <a:pPr algn="l">
              <a:spcBef>
                <a:spcPts val="500"/>
              </a:spcBef>
            </a:pPr>
            <a:r>
              <a:rPr sz="1300" b="0">
                <a:solidFill>
                  <a:srgbClr val="111827"/>
                </a:solidFill>
                <a:latin typeface="Calibri"/>
              </a:rPr>
              <a:t>consultforafrica.com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111827"/>
                </a:solidFill>
                <a:latin typeface="Calibri"/>
              </a:rPr>
              <a:t>hello@consultforafrica.com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5394960"/>
            <a:ext cx="365760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0B3C5D"/>
                </a:solidFill>
                <a:latin typeface="Calibri"/>
              </a:rPr>
              <a:t>Maarova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111827"/>
                </a:solidFill>
                <a:latin typeface="Calibri"/>
              </a:rPr>
              <a:t>consultforafrica.com/maarova</a:t>
            </a:r>
          </a:p>
          <a:p>
            <a:pPr algn="l">
              <a:spcBef>
                <a:spcPts val="800"/>
              </a:spcBef>
            </a:pPr>
            <a:r>
              <a:rPr sz="1400" b="1">
                <a:solidFill>
                  <a:srgbClr val="0B3C5D"/>
                </a:solidFill>
                <a:latin typeface="Calibri"/>
              </a:rPr>
              <a:t>CadreHealth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111827"/>
                </a:solidFill>
                <a:latin typeface="Calibri"/>
              </a:rPr>
              <a:t>consultforafrica.com/oncadre</a:t>
            </a:r>
          </a:p>
        </p:txBody>
      </p:sp>
      <p:pic>
        <p:nvPicPr>
          <p:cNvPr id="10" name="Picture 9" descr="c4a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5349240"/>
            <a:ext cx="3656010" cy="8686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653796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0">
                <a:solidFill>
                  <a:srgbClr val="D4AF37"/>
                </a:solidFill>
                <a:latin typeface="Calibri"/>
              </a:rPr>
              <a:t>African healthcare that runs better.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