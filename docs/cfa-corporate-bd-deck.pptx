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4a-logo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365601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331720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CORPORATE CAPABILITY &amp; BUSINESS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100" b="1" i="0">
                <a:solidFill>
                  <a:srgbClr val="FFFFFF"/>
                </a:solidFill>
                <a:latin typeface="Calibri"/>
              </a:rPr>
              <a:t>We do not write reports</a:t>
            </a:r>
          </a:p>
          <a:p>
            <a:pPr algn="l">
              <a:lnSpc>
                <a:spcPct val="105000"/>
              </a:lnSpc>
            </a:pPr>
            <a:r>
              <a:rPr sz="4100" b="1" i="0">
                <a:solidFill>
                  <a:srgbClr val="FFFFFF"/>
                </a:solidFill>
                <a:latin typeface="Calibri"/>
              </a:rPr>
              <a:t>about African healthcare.</a:t>
            </a:r>
          </a:p>
          <a:p>
            <a:pPr algn="l">
              <a:lnSpc>
                <a:spcPct val="105000"/>
              </a:lnSpc>
            </a:pPr>
            <a:r>
              <a:rPr sz="4100" b="1" i="0">
                <a:solidFill>
                  <a:srgbClr val="D4AF37"/>
                </a:solidFill>
                <a:latin typeface="Calibri"/>
              </a:rPr>
              <a:t>We run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92040"/>
            <a:ext cx="100584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9601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Nine service lines. Eight engagement models. Three proprietary platforms.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500" b="0" i="0">
                <a:solidFill>
                  <a:srgbClr val="9AA3AF"/>
                </a:solidFill>
                <a:latin typeface="Calibri"/>
              </a:rPr>
              <a:t>Healthcare transformation and management across Africa.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3AF"/>
                </a:solidFill>
                <a:latin typeface="Calibri"/>
              </a:rPr>
              <a:t>consultforafrica.com   |   hello@consultforafrica.com   |   Lagos  ·  Abuja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THE FIRM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The firm in one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An Africa-focused healthcare management and transformation firm. Built by operators, for operators.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42032"/>
            <a:ext cx="2642615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4203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1635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135+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1927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Combined senior healthcare leadership across the partner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2542032"/>
            <a:ext cx="2642615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5848" y="254203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281635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331927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Senior operators in the C4A network, fielded as integrated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5" y="2542032"/>
            <a:ext cx="2642615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5" y="254203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3" y="281635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3" y="331927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Professional cadres covered by our workforce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3" y="2542032"/>
            <a:ext cx="2642615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0263" y="254203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281635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31927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Proprietary platforms owned and operated by the firm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77640"/>
            <a:ext cx="11064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023360"/>
            <a:ext cx="22860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What we 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014216"/>
            <a:ext cx="8229600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A management and transformation firm, not an advisory house. We embed, implement, and stay long enough to hand over something that works.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9943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45152"/>
            <a:ext cx="22860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Who we 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636008"/>
            <a:ext cx="8229600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Private hospitals and groups, payers and HMOs, investors and DFIs, governments and development partners, NGOs, life sciences, and healthcare ventures.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21224"/>
            <a:ext cx="11064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66944"/>
            <a:ext cx="22860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Where we operate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257800"/>
            <a:ext cx="8229600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Headquartered in Lagos and Abuja, delivering across Nigeria and into Ghana, Kenya, and the wider continent.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843016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88736"/>
            <a:ext cx="228600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How we are paid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879592"/>
            <a:ext cx="8229600" cy="4937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Fixed-scope projects, monthly retainers, secondment day rates, fractional mandates, and equity-linked turnaround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WHY WE EXIST</a:t>
            </a:r>
          </a:p>
        </p:txBody>
      </p:sp>
      <p:pic>
        <p:nvPicPr>
          <p:cNvPr id="7" name="Picture 6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03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THE PREMISE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Africa's health systems do not have a knowledge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D4AF37"/>
                </a:solidFill>
                <a:latin typeface="Calibri"/>
              </a:rPr>
              <a:t>They have an execution problem. That is the whole thesis of this firm.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2651760" cy="2286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strategy exists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21945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Boards have commissioned the reports. The recommendations are usually right. Almost none of them have been implemented.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3017520"/>
            <a:ext cx="2651760" cy="2286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3017520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324612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capability is thin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840480"/>
            <a:ext cx="21945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Senior leaders were promoted on clinical tenure, not on management capability, and nobody has ever measured the difference.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5" y="3017520"/>
            <a:ext cx="2651760" cy="2286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017520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324612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workforce is leaving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3840480"/>
            <a:ext cx="21945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Every vacancy costs months of locum premium and referral leakage while the post sits open.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0263" y="3017520"/>
            <a:ext cx="2651760" cy="2286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0263" y="3017520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3" y="324612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Nobody owns the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3" y="3840480"/>
            <a:ext cx="2194560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Revenue leaks, theatre lists run half empty, and marketing spend disappears, because no single person is accountable for the outcome.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Every service line in this deck exists to close one of those four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POSITIONING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04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What separates us from a consulting firm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The difference is not the analysis. It is who is standing in the building when the plan has to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49240" cy="411480"/>
          </a:xfrm>
          <a:prstGeom prst="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6B7280"/>
                </a:solidFill>
                <a:latin typeface="Calibri"/>
              </a:rPr>
              <a:t>THE TRADITIONAL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377440"/>
            <a:ext cx="5349240" cy="4114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4846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THE C4A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07792"/>
            <a:ext cx="5349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53512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Diagnoses, then leaves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07792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07792"/>
            <a:ext cx="4114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53512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Diagnoses, then stays to deliver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5349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11880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Partners sell, juniors deliver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6616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566160"/>
            <a:ext cx="4114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611880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Former hospital CEOs and clinical leaders on the ground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24528"/>
            <a:ext cx="5349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70248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Frameworks imported from other markets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224528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224528"/>
            <a:ext cx="4114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70248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Models built for African cost, payer, and workforce realities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82896"/>
            <a:ext cx="5349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928616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Success measured by the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882896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882896"/>
            <a:ext cx="4114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928616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Success measured by revenue, utilisation, and governance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541264"/>
            <a:ext cx="5349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86984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Dependency by design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541264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5541264"/>
            <a:ext cx="4114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586984"/>
            <a:ext cx="4846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Capability transferred so performance holds after we leave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CAPABILITY MAP</a:t>
            </a:r>
          </a:p>
        </p:txBody>
      </p:sp>
      <p:pic>
        <p:nvPicPr>
          <p:cNvPr id="7" name="Picture 6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05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WHAT WE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Nine service lines, one integrated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3AF"/>
                </a:solidFill>
                <a:latin typeface="Calibri"/>
              </a:rPr>
              <a:t>Take one. Take several. Most institutions start with one and widen the mandate once it 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1460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64261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88036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Hospital Turnaround &amp; Financial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38328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REVENUE CAPTURE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251460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1" y="251460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64261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88036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Strategy, Growth &amp; Commercial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338328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SERVICE LINE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3" y="251460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3" y="251460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5" y="264261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5" y="288036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Clinical Governance &amp; Accreditation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5" y="338328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GOVERNANCE FRAMEWORKS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9476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9476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92277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16052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Digital Health &amp; Technology Leadership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66344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OPERATING INTELLIGENCE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1" y="379476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1" y="379476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92277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16052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Fractional Leadership &amp; Executive Secondments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66344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FRACTIONAL C-SUITE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93023" y="379476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3023" y="379476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9055" y="392277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5" y="416052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 Systems &amp; Public Sector Advisory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5" y="466344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SYSTEM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7492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07492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520293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544068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Healthcare HR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594360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RETENTION STRATEGY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1" y="5074920"/>
            <a:ext cx="3566160" cy="1133856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1" y="507492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26864" y="520293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26864" y="544068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Healthcare Workforce Recruitment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26864" y="594360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9AA3AF"/>
                </a:solidFill>
                <a:latin typeface="Calibri"/>
              </a:rPr>
              <a:t>PERMANENT RECRUITMENT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93023" y="5074920"/>
            <a:ext cx="3566160" cy="1133856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93023" y="5074920"/>
            <a:ext cx="45720" cy="11338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49055" y="520293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9055" y="544068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Healthcare Marketing Agency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49055" y="594360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D4AF37"/>
                </a:solidFill>
                <a:latin typeface="Calibri"/>
              </a:rPr>
              <a:t>NEW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01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06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Hospital Turnaround &amp; Financial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When cashflow tightens and instability sets in, hospitals need decisive action. We restore financial control, stop revenue leakage, and rebuild operational discipline.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Revenue capture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Billing integrity, claims recovery, payer reconciliation, and price realisation.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Cost discipline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Procurement control, stock and consumable leakage, staffing cost to revenue.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Productivity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Theatre utilisation, bed days, clinic throughput, and diagnostics yield.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Cash and control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Cashflow stabilisation, financial visibility, and a management reporting cadence.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Equity-backed turnaround or fixed-term management mandate, 24 to 60 months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Distressed or underperforming facilities, and lenders or investors holding the asset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02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07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Strategy, Growth &amp; Commercial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Growth comes from aligning clinical strengths with demand, referral flows, and patient access. Not from adding more services and hoping for the best.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Service line strategy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Where demand actually is, what it is worth, and what you are equipped to win.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Referral networks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Physician engagement, partner clinics, and closing referral leakage.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Payer and pricing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Payer mix, HMO dependency, tariff negotiation, and self-pay positioning.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Diversification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New revenue lines, patient experience, and retention economics.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Advisory project, 8 to 16 weeks, with an optional execution phase to month 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Groups expanding into new markets and facilities with underperforming service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03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08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Clinical Governance &amp; Accreditation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Strong quality systems protect patients and build institutional credibility. We strengthen governance structures and prepare institutions for external accreditation.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Governance frameworks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Committee structure, escalation, clinical accountability, and board reporting.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Accreditation readiness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JCI, COHSASA, and SafeCare preparation, gap closure, and mock survey.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Patient safety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Incident systems, mortality and morbidity review, and risk registers.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Clinical audit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Audit cycles, quality monitoring, and clinical KPI reporting.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Diagnostic audit then a 6 to 18 month readiness and implementation programme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Boards facing quality or safety exposure, and facilities pursuing accreditation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04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09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Digital Health &amp; Technology Leadership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We help healthcare organisations and ventures get the technology foundation right, from system selection to digital strategy to the teams that actually run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Operating intelligence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Executive dashboards, KPI trees, and decision-grade reporting.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Systems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HIS and EMR selection, implementation oversight, and workflow digitisation.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CTO as a service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Technical leadership for healthtech ventures without a full-time hire.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Commercial flexibility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Option to convert CTO fees into pre-seed equity.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Fractional or project mandate, 6 to 18 months, on-site or hybrid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Hospitals digitising under pressure and healthtech ventures pre-Series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05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10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Fractional Leadership &amp; Executive Secondments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Not every institution needs a full-time C-suite hire. We embed experienced healthcare executives on fixed-term mandates to fill leadership gaps and drive specific transformations.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Fractional C-suite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CEO, COO, CMO, and CTO on 2 to 3 days a week, on-site or hybrid.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Interim leadership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Hospital Director and Medical Director cover through transitions.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Embedded operators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Project-embedded clinical and operational leads inside your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Terms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Performance-linked mandates with an optional conversion to permanent hire.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Secondment 3 to 12 months, fractional leadership 6 to 18 months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Institutions between leaders, in transition, or carrying a capability gap they cannot hire for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06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11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Health Systems &amp; Public Sector Advisory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We support governments, development partners, and NGOs on health system design, hospital network planning, and moving policy into implementation.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System design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Service configuration, hospital network planning, and referral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Policy to delivery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Turning approved policy into funded, sequenced, and monitored programmes.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Primary care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PHC strengthening, facility readiness, and workforce distribution.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Partner advisory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Programme design, delivery oversight, and results reporting for funders.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Programme mandate, typically 6 to 24 months, milestone-based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Ministries and state governments, DFIs, development partners, and NGOs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07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Healthcare HR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The workforce crisis is the single biggest threat to African healthcare. We combine consulting with proprietary assessment technology to help institutions hire, develop, and retain clinical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Retention strategy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Why your clinicians leave, what it costs, and what actually changes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Executive search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Senior appointments supported by Maarova™ leadership assessment.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Leadership development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Coaching, succession planning, and capability building for clinical leaders.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Workforce planning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Establishment review, compensation design, and culture measurement.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Project or retained, powered by the Maarova™ assessment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Institutions losing senior clinicians and boards appointing into critical roles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08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13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Healthcare Workforce Recruitment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Access a verified pool of healthcare professionals across 16 cadres. Permanent hires, locum cover, and structured pre-employment assessment, run on our own platform.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Permanent recruitment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Clinical and non-clinical roles sourced from a verified talent pool.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Locum and surge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Temporary staffing filled in days, not months.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Verification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Credential checks and structured pre-employment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Market intelligence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Salary benchmarking and workforce analytics by cadre and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Ongoing, per-placement or retained, delivered through CadreHealth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Any facility carrying vacancies, and groups standardising how they hire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SERVICE LINE 09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14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LINE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Healthcare Marketing Agency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Empowering health brands through strategic marketing. A specialist agency inside the firm, blending data-driven strategy with medical expertise and creativity.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Brand and positioning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Brand architecture, value proposition, segmentation, identity, and guidelines.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98648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Research and insight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Epidemiological and competitive analysis, journey mapping, health equity audits.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Campaigns and creative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Multichannel planning, medically vetted content, video, and influencer programmes.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840479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79"/>
            <a:ext cx="4114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950207"/>
            <a:ext cx="4892040" cy="6492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3C5D"/>
                </a:solidFill>
                <a:latin typeface="Calibri"/>
              </a:rPr>
              <a:t>Digital and analytics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0">
                <a:solidFill>
                  <a:srgbClr val="6B7280"/>
                </a:solidFill>
                <a:latin typeface="Calibri"/>
              </a:rPr>
              <a:t>Web and app build, SEO, social, CRM, and live dashboards measuring ROI.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11064240" cy="457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51206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TYPICAL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Retainer advisory, fixed-price project, or a hybrid of the two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212080"/>
            <a:ext cx="10972" cy="822960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8464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493776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3C5D"/>
                </a:solidFill>
                <a:latin typeface="Calibri"/>
              </a:rPr>
              <a:t>Hospitals, HMOs, NGOs, and life sciences companies building brands and moving behaviour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MARKETING AGENCY</a:t>
            </a:r>
          </a:p>
        </p:txBody>
      </p:sp>
      <p:pic>
        <p:nvPicPr>
          <p:cNvPr id="7" name="Picture 6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15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SPOTLIGHT: NEW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Inside the marketing agency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3AF"/>
                </a:solidFill>
                <a:latin typeface="Calibri"/>
              </a:rPr>
              <a:t>We are more than an agency. We are healthcare partners. Behavioural science, digital analytics, and human-centred design, applied to health brands.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2642615" cy="1600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87168"/>
            <a:ext cx="2642615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97480"/>
            <a:ext cx="2203703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80944"/>
            <a:ext cx="2203703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Discovery &amp;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346704"/>
            <a:ext cx="2203703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3AF"/>
                </a:solidFill>
                <a:latin typeface="Calibri"/>
              </a:rPr>
              <a:t>Market research and stakeholder interviews with patients, clinicians, and regulators. Channel, competitor, and epidemiological audit.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487168"/>
            <a:ext cx="2642615" cy="1600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848" y="2487168"/>
            <a:ext cx="2642615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304" y="2697480"/>
            <a:ext cx="2203703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2980944"/>
            <a:ext cx="2203703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Strategy &amp;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346704"/>
            <a:ext cx="2203703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3AF"/>
                </a:solidFill>
                <a:latin typeface="Calibri"/>
              </a:rPr>
              <a:t>Positioning, messaging hierarchy, media strategy, and KPI framework, aligned to business and clinical objectives.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5" y="2487168"/>
            <a:ext cx="2642615" cy="1600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5" y="2487168"/>
            <a:ext cx="2642615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697480"/>
            <a:ext cx="2203703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980944"/>
            <a:ext cx="2203703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Creative &amp; Campaign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346704"/>
            <a:ext cx="2203703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3AF"/>
                </a:solidFill>
                <a:latin typeface="Calibri"/>
              </a:rPr>
              <a:t>Branding, storytelling, and digital content that simplify complexity without losing scientific integrity. Medically vetted.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0263" y="2487168"/>
            <a:ext cx="2642615" cy="1600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0263" y="2487168"/>
            <a:ext cx="2642615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19" y="2697480"/>
            <a:ext cx="2203703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2980944"/>
            <a:ext cx="2203703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Execute &amp; Optimise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3346704"/>
            <a:ext cx="2203703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3AF"/>
                </a:solidFill>
                <a:latin typeface="Calibri"/>
              </a:rPr>
              <a:t>Multichannel deployment with compliance checks, live dashboards, behavioural journey design, and measured ROI.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61104"/>
            <a:ext cx="110642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SERVICE OFFERINGS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72000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626864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Brand strategy &amp; positioning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48990" y="4572000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48990" y="4572000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8446" y="4626864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Market research &amp; insights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9340" y="4572000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9340" y="4572000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8796" y="4626864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Campaign planning &amp;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49690" y="4572000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49690" y="4572000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9146" y="4626864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Creative services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266944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266944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5321807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Digital marketing &amp; technology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48990" y="5266944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48990" y="5266944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8446" y="5321807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Influencer &amp; community engagement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9340" y="5266944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49340" y="5266944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8796" y="5321807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Public relations &amp; advertising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49690" y="5266944"/>
            <a:ext cx="2663190" cy="566928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49690" y="5266944"/>
            <a:ext cx="36576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9146" y="5321807"/>
            <a:ext cx="227914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Analytics &amp; CRM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961888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Engagement: retainer advisory, fixed-price project, or a hybrid of the two. Serving hospitals, HMOs, NGOs, and life sciences companies.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PLATFORMS</a:t>
            </a:r>
          </a:p>
        </p:txBody>
      </p:sp>
      <p:pic>
        <p:nvPicPr>
          <p:cNvPr id="7" name="Picture 6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16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PROPRIETARY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We own the infrastructure, not just the advice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3AF"/>
                </a:solidFill>
                <a:latin typeface="Calibri"/>
              </a:rPr>
              <a:t>Platforms built by the firm and used inside client engagements, or licensed directly.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3566160" cy="30632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356616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88036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Maarova™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29184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AF37"/>
                </a:solidFill>
                <a:latin typeface="Calibri"/>
              </a:rPr>
              <a:t>Leadership assessment &amp;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794760"/>
            <a:ext cx="30175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Psychometric assessment built for African healthcare leadership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360 feedback, development reporting, and executive coaching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Used in executive search, succession, and appointment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1" y="2651760"/>
            <a:ext cx="3566160" cy="30632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1" y="2651760"/>
            <a:ext cx="356616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88036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CadreHealth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329184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AF37"/>
                </a:solidFill>
                <a:latin typeface="Calibri"/>
              </a:rPr>
              <a:t>Healthcare workforce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3794760"/>
            <a:ext cx="30175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Verified professionals across 16 cadres and 73 hospitals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Permanent and locum recruitment, credential verification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Salary intelligence and workforce benchmarking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3" y="2651760"/>
            <a:ext cx="3566160" cy="30632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3" y="2651760"/>
            <a:ext cx="356616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288036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Agent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329184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4AF37"/>
                </a:solidFill>
                <a:latin typeface="Calibri"/>
              </a:rPr>
              <a:t>Commercial distribution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3794760"/>
            <a:ext cx="30175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Commission-based sales agents recruited from our clinical network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Territory management, deal tracking, and attribution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50" b="0" i="0">
                <a:solidFill>
                  <a:srgbClr val="9AA3AF"/>
                </a:solidFill>
                <a:latin typeface="Calibri"/>
              </a:rPr>
              <a:t>—  Route to market for healthcare products and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Clients reach these platforms through an engagement, or licence them directly.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HOW TO ENGAGE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17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ENGAGEMENT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Eight ways to work with 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Every institution has different constraints. The commercial structure flexes, the accountability does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96896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Advisory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926080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Fixed scope, defined deliverables, embedded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596896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8 to 16 weeks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68880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68880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596896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Retainer 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926080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Monthly hours pool with priority specialist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596896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6 to 12 months rolling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9584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29584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65760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Embedded secondment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986784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Full-time consultant reporting into your leadership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657600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3 to 12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529584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529584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365760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Fractional leadership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986784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Part-time C-suite, 2 to 3 days a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657600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6 to 18 months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90288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90288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718303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Hospital transformation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047488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Equity-backed turnaround with management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718303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24 to 60 months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590288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590288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59" y="4718303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Transaction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5047488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M&amp;A and capital raising for healthcare assets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718303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6 to 18 months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50992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650992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5779007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Healthcare recruitment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6108192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Permanent, locum, and assessment via CadreHealth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5779007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Ongoing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650992"/>
            <a:ext cx="5349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5650992"/>
            <a:ext cx="45720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59" y="5779007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3C5D"/>
                </a:solidFill>
                <a:latin typeface="Calibri"/>
              </a:rPr>
              <a:t>Commercial distribution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59" y="6108192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Managed commission agent network, Agent Channel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779007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Ongoing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HOW WE WORK</a:t>
            </a:r>
          </a:p>
        </p:txBody>
      </p:sp>
      <p:pic>
        <p:nvPicPr>
          <p:cNvPr id="7" name="Picture 6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18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DELIVERY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C4A execution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3AF"/>
                </a:solidFill>
                <a:latin typeface="Calibri"/>
              </a:rPr>
              <a:t>Five stages. The last one is the one most firms skip, and it is the reason performance holds.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2103120" cy="26060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210312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164591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93008"/>
            <a:ext cx="16459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645919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AA3AF"/>
                </a:solidFill>
                <a:latin typeface="Calibri"/>
              </a:rPr>
              <a:t>Deep operational and financial assessment. We find the real problem, not the presenting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3977639"/>
            <a:ext cx="6400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25496" y="2743200"/>
            <a:ext cx="2103120" cy="26060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25496" y="2743200"/>
            <a:ext cx="210312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4096" y="2999232"/>
            <a:ext cx="164591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3493008"/>
            <a:ext cx="16459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3886200"/>
            <a:ext cx="1645919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AA3AF"/>
                </a:solidFill>
                <a:latin typeface="Calibri"/>
              </a:rPr>
              <a:t>A bespoke plan with clear milestones, ownership, and measurable targets.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3977639"/>
            <a:ext cx="6400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2351" y="2743200"/>
            <a:ext cx="2103120" cy="26060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02351" y="2743200"/>
            <a:ext cx="210312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1" y="2999232"/>
            <a:ext cx="164591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1" y="3493008"/>
            <a:ext cx="16459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1" y="3886200"/>
            <a:ext cx="1645919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AA3AF"/>
                </a:solidFill>
                <a:latin typeface="Calibri"/>
              </a:rPr>
              <a:t>Embedded execution. Our team works inside the institution alongside your people.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0335" y="3977639"/>
            <a:ext cx="6400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9207" y="2743200"/>
            <a:ext cx="2103120" cy="26060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79207" y="2743200"/>
            <a:ext cx="210312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7" y="2999232"/>
            <a:ext cx="164591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7" y="3493008"/>
            <a:ext cx="16459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7" y="3886200"/>
            <a:ext cx="1645919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AA3AF"/>
                </a:solidFill>
                <a:latin typeface="Calibri"/>
              </a:rPr>
              <a:t>Measurable outcomes: revenue recovered, costs reduced, governance strengthened.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37191" y="3977639"/>
            <a:ext cx="64008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56063" y="2743200"/>
            <a:ext cx="2103120" cy="260604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56063" y="2743200"/>
            <a:ext cx="210312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84663" y="2999232"/>
            <a:ext cx="164591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84663" y="3493008"/>
            <a:ext cx="164591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3" y="3886200"/>
            <a:ext cx="1645919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AA3AF"/>
                </a:solidFill>
                <a:latin typeface="Calibri"/>
              </a:rPr>
              <a:t>Capability and systems handed to your team so performance sustains after we leave.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 report on a fixed cadence throughout, to management monthly and to the board quarterly.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IMPACT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19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WHAT WE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Where performance improves, value follows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Four levers carry most of the value in a healthcare institution. We are measured on all four.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42032"/>
            <a:ext cx="2651760" cy="1600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42032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70632"/>
            <a:ext cx="2194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Revenue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2194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8D4E2"/>
                </a:solidFill>
                <a:latin typeface="Calibri"/>
              </a:rPr>
              <a:t>Capture earned income, close billing gaps, and fix payer reconciliation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2542032"/>
            <a:ext cx="2651760" cy="1600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5848" y="2542032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2770632"/>
            <a:ext cx="2194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Utilisation gains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227832"/>
            <a:ext cx="2194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8D4E2"/>
                </a:solidFill>
                <a:latin typeface="Calibri"/>
              </a:rPr>
              <a:t>Theatre lists, bed days, clinic slots, and diagnostics running at capacity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5" y="2542032"/>
            <a:ext cx="2651760" cy="1600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5" y="2542032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2770632"/>
            <a:ext cx="2194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Cost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3227832"/>
            <a:ext cx="2194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8D4E2"/>
                </a:solidFill>
                <a:latin typeface="Calibri"/>
              </a:rPr>
              <a:t>Procurement leakage, consumable waste, and staffing cost to revenue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3" y="2542032"/>
            <a:ext cx="2651760" cy="1600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0263" y="2542032"/>
            <a:ext cx="2651760" cy="640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3" y="2770632"/>
            <a:ext cx="2194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Governance strength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3227832"/>
            <a:ext cx="2194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8D4E2"/>
                </a:solidFill>
                <a:latin typeface="Calibri"/>
              </a:rPr>
              <a:t>Board oversight, clinical accountability, and decision-grade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70832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TRACK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90872"/>
            <a:ext cx="2642615" cy="1234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9087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96519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$1.1M+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46811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Annual savings delivered in a single engagement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5848" y="4690872"/>
            <a:ext cx="2642615" cy="1234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55848" y="469087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7016" y="496519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135+ yrs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7016" y="546811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Combined senior leadership across the partner network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5" y="4690872"/>
            <a:ext cx="2642615" cy="1234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469087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3" y="496519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20+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3" y="546811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Senior operators fielded as integrated teams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70263" y="4690872"/>
            <a:ext cx="2642615" cy="1234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70263" y="4690872"/>
            <a:ext cx="2642615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1432" y="4965192"/>
            <a:ext cx="2240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B3C5D"/>
                </a:solidFill>
                <a:latin typeface="Calibri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5468112"/>
            <a:ext cx="2240279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Professional cadres in the workforce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“Their embedded execution approach restored operational discipline, strengthened governance, and rebuilt leadership accountability.”   Hospital board representative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CLIENTS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20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CLIENT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Who we serve, and what they come to us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5349240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734056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78024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Private hospitals and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Turnaround, growth, governance, workforce, and marketing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331720"/>
            <a:ext cx="5349240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2734056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2478024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Payers, HMOs and insurers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2788920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Provider network strategy, member enrolment, engagement, and cost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92424"/>
            <a:ext cx="5349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3794760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538728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Investors, PE and DFIs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49624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Commercial and operational due diligence, then post-deal value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392424"/>
            <a:ext cx="5349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9672" y="3794760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3538728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Governments and ministries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3849624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Health system design, network planning, and policy to delivery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53128"/>
            <a:ext cx="5349240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" y="4855464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99432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NGOs and development 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10328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Programme design, behaviour change campaigns, and results reporting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453128"/>
            <a:ext cx="5349240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19672" y="4855464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79" y="4599432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Life sciences and pharma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4910328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Market entry, brand launch, and medically vetted commercial campaigns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13832"/>
            <a:ext cx="5349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" y="5916168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660136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Healthcare ventures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971032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CTO as a service, go to market, and distribution through Agent Channel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513832"/>
            <a:ext cx="5349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19672" y="5916168"/>
            <a:ext cx="118872" cy="1188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79" y="5660136"/>
            <a:ext cx="4526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3C5D"/>
                </a:solidFill>
                <a:latin typeface="Calibri"/>
              </a:rPr>
              <a:t>Diaspora-owned institutions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79" y="5971032"/>
            <a:ext cx="452627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Market entry, build and operate mandates, and clinical governance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THE BENCH</a:t>
            </a:r>
          </a:p>
        </p:txBody>
      </p:sp>
      <p:pic>
        <p:nvPicPr>
          <p:cNvPr id="7" name="Picture 6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9AA3AF"/>
                </a:solidFill>
                <a:latin typeface="Calibri"/>
              </a:rPr>
              <a:t>21 /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OUR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Who actually shows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3AF"/>
                </a:solidFill>
                <a:latin typeface="Calibri"/>
              </a:rPr>
              <a:t>Fielded as an integrated team, not as individual consultants billing hours.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11064240" cy="73152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45720" cy="7315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34056"/>
            <a:ext cx="3749039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Hospital CEOs and executive 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15768"/>
            <a:ext cx="6537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Founders and former CEOs of Nigerian and East African hospital groups, with real P&amp;L accountability behind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47288"/>
            <a:ext cx="11064240" cy="73152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47288"/>
            <a:ext cx="45720" cy="7315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75304"/>
            <a:ext cx="3749039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Clinical governance authorities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57016"/>
            <a:ext cx="6537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Clinicians who have led accreditation, quality systems, and patient safety programmes at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88536"/>
            <a:ext cx="11064240" cy="73152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88536"/>
            <a:ext cx="45720" cy="7315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16552"/>
            <a:ext cx="3749039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Finance and revenue strategists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398264"/>
            <a:ext cx="6537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Specialists in billing integrity, NHIS and HMO strategy, payer negotiation, and cost reduction.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9784"/>
            <a:ext cx="11064240" cy="73152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129784"/>
            <a:ext cx="45720" cy="7315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57800"/>
            <a:ext cx="3749039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Marketing, brand and digital specialists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239512"/>
            <a:ext cx="6537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A multidisciplinary agency team spanning strategy, creative, technology, and analytics, vetted by clinicians.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80176"/>
            <a:ext cx="105156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AF37"/>
                </a:solidFill>
                <a:latin typeface="Calibri"/>
              </a:rPr>
              <a:t>Led by Dr Debo Odulana, Founding Partner. Former CEO, Cedarcrest Hospitals Abuja. Former Chief Innovation &amp; Strategy Officer, Evercare Hospital Lekki. Founder of Doctoora.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91695" cy="320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"/>
            <a:ext cx="6400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"/>
            <a:ext cx="4572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D4AF37"/>
                </a:solidFill>
                <a:latin typeface="Calibri"/>
              </a:rPr>
              <a:t>NEXT STEPS</a:t>
            </a:r>
          </a:p>
        </p:txBody>
      </p:sp>
      <p:pic>
        <p:nvPicPr>
          <p:cNvPr id="6" name="Picture 5" descr="c4a-icon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45720"/>
            <a:ext cx="314850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consultforafrica.com   |   Lagos  ·  Abuja   |   Maarova™  ·  CadreHealth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73952"/>
            <a:ext cx="34290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22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COMMERCIAL PATHWAY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79576"/>
            <a:ext cx="11064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B3C5D"/>
                </a:solidFill>
                <a:latin typeface="Calibri"/>
              </a:rPr>
              <a:t>How an engagement starts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1060704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Low commitment at the front. The scope widens only once something has been proven.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11064240" cy="859536"/>
          </a:xfrm>
          <a:prstGeom prst="rect">
            <a:avLst/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45720" cy="85953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96896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STEP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B3C5D"/>
                </a:solidFill>
                <a:latin typeface="Calibri"/>
              </a:rPr>
              <a:t>Discovery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08960"/>
            <a:ext cx="2743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30 minutes, confidential, no charge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615184"/>
            <a:ext cx="7498079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We establish the presenting problem, the constraints, and whether we are the right firm for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38144"/>
            <a:ext cx="11064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8144"/>
            <a:ext cx="45720" cy="85953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STEP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2219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B3C5D"/>
                </a:solidFill>
                <a:latin typeface="Calibri"/>
              </a:rPr>
              <a:t>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743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2 to 4 weeks, fixed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84448"/>
            <a:ext cx="7498079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A focused review of the operational, commercial, or brand position, delivered as a board-ready report with a prioritised fix 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07408"/>
            <a:ext cx="11064240" cy="859536"/>
          </a:xfrm>
          <a:prstGeom prst="rect">
            <a:avLst/>
          </a:prstGeom>
          <a:solidFill>
            <a:srgbClr val="F4F7FA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07408"/>
            <a:ext cx="45720" cy="85953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35424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STEP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91456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B3C5D"/>
                </a:solidFill>
                <a:latin typeface="Calibri"/>
              </a:rPr>
              <a:t>Scoped mandate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47488"/>
            <a:ext cx="2743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Structure follows the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553712"/>
            <a:ext cx="7498079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Project, retainer, secondment, fractional leadership, or a full transformation mandate. Priced against the value at stake.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76672"/>
            <a:ext cx="11064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376672"/>
            <a:ext cx="45720" cy="85953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8"/>
            <a:ext cx="1005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STEP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6072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B3C5D"/>
                </a:solidFill>
                <a:latin typeface="Calibri"/>
              </a:rPr>
              <a:t>Delivery and 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016752"/>
            <a:ext cx="2743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Monthly and quarterly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522976"/>
            <a:ext cx="7498079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11827"/>
                </a:solidFill>
                <a:latin typeface="Calibri"/>
              </a:rPr>
              <a:t>Embedded execution against agreed targets, then handover of systems and capability to your team.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4a-logo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3271167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0574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START THE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024128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Tell us what is not working.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9AA3AF"/>
                </a:solidFill>
                <a:latin typeface="Calibri"/>
              </a:rPr>
              <a:t>We will tell you whether we can fix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100584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26517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00600"/>
            <a:ext cx="2651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consultforafrica.com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526280"/>
            <a:ext cx="26517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800600"/>
            <a:ext cx="2651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hello@consultforafrica.com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4526280"/>
            <a:ext cx="26517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4800600"/>
            <a:ext cx="2651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+234 913 813 8553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999" y="4526280"/>
            <a:ext cx="26517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OFFICES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9" y="4800600"/>
            <a:ext cx="2651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Lagos  ·  Abuja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3AF"/>
                </a:solidFill>
                <a:latin typeface="Calibri"/>
              </a:rPr>
              <a:t>Consult For Africa   |   Healthcare transformation and management across Africa   |   Maarova™  ·  CadreHealth  ·  Agent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