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Calibri"/>
              </a:rPr>
              <a:t>INSERT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COMMERCIALS  /  MID-LEVEL SECONDMENTS AND LOCUM 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6424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0B3C5D"/>
                </a:solidFill>
                <a:latin typeface="Calibri"/>
              </a:rPr>
              <a:t>Operational managers and clinical cover, on demand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73152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11064240" cy="38404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75688"/>
            <a:ext cx="10607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MID-LEVEL OPERATIONAL SECONDMENTS  /  MONTHLY 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95728"/>
            <a:ext cx="11064240" cy="29260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50592"/>
            <a:ext cx="32004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450592"/>
            <a:ext cx="20116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FULL-TIME / 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450592"/>
            <a:ext cx="18288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FRACTIONAL / 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450592"/>
            <a:ext cx="3657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WHAT THEY OWN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88336"/>
            <a:ext cx="110642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779776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0B3C5D"/>
                </a:solidFill>
                <a:latin typeface="Calibri"/>
              </a:rPr>
              <a:t>Finance 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2779776"/>
            <a:ext cx="2011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N1.8M to N3M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779776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Calibri"/>
              </a:rPr>
              <a:t>N700K to N1.2M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798064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Calibri"/>
              </a:rPr>
              <a:t>Month-end close, cash flow, payor reconciliation, board pack.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099816"/>
            <a:ext cx="11064240" cy="4114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191256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0B3C5D"/>
                </a:solidFill>
                <a:latin typeface="Calibri"/>
              </a:rPr>
              <a:t>Supply Chain 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3191256"/>
            <a:ext cx="2011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N1.5M to N2.5M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3191256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Calibri"/>
              </a:rPr>
              <a:t>N600K to N1M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3209544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Calibri"/>
              </a:rPr>
              <a:t>Procurement systems, vendor terms, stockout reduction, KPI dashboards.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511296"/>
            <a:ext cx="110642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602736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0B3C5D"/>
                </a:solidFill>
                <a:latin typeface="Calibri"/>
              </a:rPr>
              <a:t>Quality &amp; Compliance Manager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3602736"/>
            <a:ext cx="2011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N1.5M to N2.5M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3602736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Calibri"/>
              </a:rPr>
              <a:t>N600K to N1M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3621024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Calibri"/>
              </a:rPr>
              <a:t>JCI / SafeCare prep, clinical audit cycles, incident review systems.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922776"/>
            <a:ext cx="11064240" cy="4114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014216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0B3C5D"/>
                </a:solidFill>
                <a:latin typeface="Calibri"/>
              </a:rPr>
              <a:t>HR Manager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4014216"/>
            <a:ext cx="2011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N1.5M to N2.5M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4014216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Calibri"/>
              </a:rPr>
              <a:t>N600K to N1M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4032504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Calibri"/>
              </a:rPr>
              <a:t>Payroll discipline, performance reviews, retention, NMA / NARD navigation.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334256"/>
            <a:ext cx="110642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425696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0B3C5D"/>
                </a:solidFill>
                <a:latin typeface="Calibri"/>
              </a:rPr>
              <a:t>IT / Health Information Manager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23360" y="4425696"/>
            <a:ext cx="2011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N1.8M to N3M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4425696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Calibri"/>
              </a:rPr>
              <a:t>N700K to N1.2M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79" y="4443984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Calibri"/>
              </a:rPr>
              <a:t>EMR rollouts, data integrity, cybersecurity baseline, HMIS reporting.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617720"/>
            <a:ext cx="7040880" cy="384048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4681728"/>
            <a:ext cx="6583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LOCUM CLINICAL COVER  /  PER SHIFT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001768"/>
            <a:ext cx="704088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038344"/>
            <a:ext cx="4114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Consultant Specialist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37760" y="5038344"/>
            <a:ext cx="25603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N150K to N300K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248656"/>
            <a:ext cx="7040880" cy="24688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285232"/>
            <a:ext cx="4114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Medical Officer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37760" y="5285232"/>
            <a:ext cx="25603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N50K to N100K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495544"/>
            <a:ext cx="704088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5532120"/>
            <a:ext cx="4114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ICU / Theatre Nurse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37760" y="5532120"/>
            <a:ext cx="25603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N40K to N80K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5742432"/>
            <a:ext cx="7040880" cy="24688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5779008"/>
            <a:ext cx="4114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General Nurse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37760" y="5779008"/>
            <a:ext cx="25603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N20K to N40K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989320"/>
            <a:ext cx="704088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7240" y="6025896"/>
            <a:ext cx="4114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Pharmacist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37760" y="6025896"/>
            <a:ext cx="25603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N40K to N80K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6236208"/>
            <a:ext cx="7040880" cy="24688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7240" y="6272784"/>
            <a:ext cx="4114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Lab Scientist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37760" y="6272784"/>
            <a:ext cx="25603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N30K to N60K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6483096"/>
            <a:ext cx="704088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7240" y="6519672"/>
            <a:ext cx="4114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Radiographer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37760" y="6519672"/>
            <a:ext cx="25603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N50K to N100K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772400" y="4617720"/>
            <a:ext cx="3840480" cy="38404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955280" y="4681728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HOW LOCUM COVER WORKS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772400" y="5001768"/>
            <a:ext cx="3840480" cy="13258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55280" y="5093208"/>
            <a:ext cx="365760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• Pay only when you book a shift</a:t>
            </a:r>
          </a:p>
          <a:p>
            <a:pPr algn="l">
              <a:spcBef>
                <a:spcPts val="5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10 to 15% platform margin on top of locum rate</a:t>
            </a:r>
          </a:p>
          <a:p>
            <a:pPr algn="l">
              <a:spcBef>
                <a:spcPts val="5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4,300+ verified professionals across 16 cadres</a:t>
            </a:r>
          </a:p>
          <a:p>
            <a:pPr algn="l">
              <a:spcBef>
                <a:spcPts val="5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Indemnity insurance bundled (Turaco)</a:t>
            </a:r>
          </a:p>
          <a:p>
            <a:pPr algn="l">
              <a:spcBef>
                <a:spcPts val="5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Paystack instant payout to professional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72400" y="6373368"/>
            <a:ext cx="3840480" cy="29260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955280" y="6409944"/>
            <a:ext cx="3657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EXAMPLE MONTHLY SPEND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772400" y="6665976"/>
            <a:ext cx="38404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955280" y="6739128"/>
            <a:ext cx="36576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0B3C5D"/>
                </a:solidFill>
                <a:latin typeface="Calibri"/>
              </a:rPr>
              <a:t>20 nurse shifts + 8 MO shifts + 4 specialist days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D4AF37"/>
                </a:solidFill>
                <a:latin typeface="Calibri"/>
              </a:rPr>
              <a:t>≈ N1.8M to N3.2M / month, fully covered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111827"/>
                </a:solidFill>
                <a:latin typeface="Calibri"/>
              </a:rPr>
              <a:t>vs. permanent backfill cost: N2.5M+ / month committed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864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Maarova  |  CadreHealth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