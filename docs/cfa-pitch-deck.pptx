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137160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CONSULT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Healthcare Leadership and Workforce</a:t>
            </a:r>
          </a:p>
          <a:p>
            <a:pPr algn="l">
              <a:spcBef>
                <a:spcPts val="0"/>
              </a:spcBef>
            </a:pPr>
            <a:r>
              <a:rPr sz="4400" b="1">
                <a:solidFill>
                  <a:srgbClr val="FFFFFF"/>
                </a:solidFill>
                <a:latin typeface="Calibri"/>
              </a:rPr>
              <a:t>A Stack Built for African Hospitals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Calibri"/>
              </a:rPr>
              <a:t>Maarova for leadership. CadreHealth for the workforce. One operator. One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consultforafrica.com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The reality your hospital is operating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06040" cy="10972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F7A8C"/>
                </a:solidFill>
                <a:latin typeface="Calibri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of Nigerian healthcare workers intend to emigrate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0B3C5D"/>
                </a:solidFill>
                <a:latin typeface="Calibri"/>
              </a:rPr>
              <a:t>8 to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weeks lost recruiting each replacement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2606040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Calibri"/>
              </a:rPr>
              <a:t>N3M+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monthly cost when a senior leader role sits vacant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377440"/>
            <a:ext cx="2606040" cy="2194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2377440"/>
            <a:ext cx="2606040" cy="10972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743200"/>
            <a:ext cx="22402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749040"/>
            <a:ext cx="2240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objective benchmarks of hospital leadership 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Two compounding gaps: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111827"/>
                </a:solidFill>
                <a:latin typeface="Calibri"/>
              </a:rPr>
              <a:t>Talent leaves faster than you can replace, and the leaders left behind were promoted on tenure, not on capability.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What inaction is already costing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bad senior hire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N18M to N40M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5915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Recruiting, onboarding, severance, lost output. Industry benchmark: 6 to 12 months of compensation.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unfilled consultant role for 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4728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N12M to N20M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2783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Locum coverage premium plus referral leakage to competing hospitals.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106424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leadership failure that triggers staff exodus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N50M+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09651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Replacement recruiting, training ramp, patient volume loss, reputational drag.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One year of unmeasured leadership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84648"/>
            <a:ext cx="4114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Unbounded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965192"/>
            <a:ext cx="6400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cannot fix what you have not assessed. Every quarter compounds.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Two products. One operator. One mission.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40680" cy="4023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MAAROVA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Leadership Assessment and Coaching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Fixes the top of the org chart.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Objective baseline of leadership capability across 6 dimensions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360-degree feedback from peers, reports, and the next layer down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1:1 and group coaching matched to identified gaps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Executive retreats for leadership team alignment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Built on Ubuntu coaching framework, not retrofitted Western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86000"/>
            <a:ext cx="5440680" cy="4023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440680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4983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CADREHEALTH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83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Healthcare Workforce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9834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Fixes the pipeline of people moving through.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4,300+ verified healthcare professionals across 16 cadres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Hospital reviews from real healthcare workers, anonymous and verified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Salary intelligence by cadre, facility, and city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Recruitment matching with career readiness scoring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Locum marketplace and credential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THE INTEGRATED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Why both,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56616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Strong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MAAROVA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Leaders who can build and retain teams. Diagnostic plus coaching plus retreats.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286000"/>
            <a:ext cx="356616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Quality Workforce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F7A8C"/>
                </a:solidFill>
                <a:latin typeface="Calibri"/>
              </a:rPr>
              <a:t>CADREHEALTH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Verified talent pool, salary benchmarks, career readiness, hospital reviews.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5661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56616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Better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74720"/>
            <a:ext cx="3200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Lower attrition, faster fills, stronger governance, healthier patient outcomes.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Maarova fixes the top. CadreHealth fixes the pipeline.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Leaders who know how to retain talent, plus a marketplace where they can find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LEADERSHIP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Maarova: how the engagement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Online assessment plus 360 feedback. 90 minutes total commitment per leader.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1:1 results review with accredited coach. Top 2 to 3 development goals identified.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12 sessions over 6 months, biweekly. 1:1 or group format. WhatsApp accountability.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28600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2286000"/>
            <a:ext cx="2697480" cy="8229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377440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51760"/>
            <a:ext cx="2240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Sustain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291840"/>
            <a:ext cx="22402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Mini 360 at month 6. Personal development plan. Optional cohort retreat.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Calibri"/>
              </a:rPr>
              <a:t>Outcome: a leader with a clear capability map, a coach, and a development plan tied to your hospital strategy.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MAAROVA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Maarova investment 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Assessment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N400K to N600K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1343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leader. Full report and 1:1 debrief.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Assessment + Group Coaching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8036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N800K to N1.2M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0779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6 monthly group sessions over 6 months.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1106424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Assessment + 1:1 Coaching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N2M to N3.5M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0215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3C5D"/>
                </a:solidFill>
                <a:latin typeface="Calibri"/>
              </a:rPr>
              <a:t>12 sessions over 6 months. Recommended starting point for senior leaders.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Leadership Intensive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N4M to N6M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9651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1:1 plus group plus on-site workshop. For C-suite.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1106424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Executive Retreat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69087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person. 2 to 3 day offsite. Premium venue, peer cohort.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66360"/>
            <a:ext cx="1106424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Enterprise Cohort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25780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N15M to N25M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285232"/>
            <a:ext cx="4389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B3C5D"/>
                </a:solidFill>
                <a:latin typeface="Calibri"/>
              </a:rPr>
              <a:t>10+ leaders. Stack of assessment, coaching, and retreat. Best per-head value.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ANCHOR: LBS Advanced Management Programme is N17 to 18M for ONE leader. Our enterprise cohort sends 10+ leaders for the same outlay.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CADREHEALTH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CadreHealth for hospitals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48640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EMPLOYER SUBSCRIPTIONS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Verified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N250K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Verified employer badge, basic facility profile, response to reviews.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Talent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N1.5M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Profile plus search across 4,300+ verified professionals, 5 mandates per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Workforce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N4M /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Talent search plus salary benchmarks, attrition data, anonymous hospital review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94560"/>
            <a:ext cx="5486400" cy="5486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0428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PERFORMANCE FEES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74320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4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Permanent Placement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20 to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Of first-year compensation. Pay only on hire. 90-day replacement guarantee.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70332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7947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Locum 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6908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10 to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434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Margin on locum shifts. Instant payment to professionals via Paystack.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663440"/>
            <a:ext cx="5486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5488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International Recruitment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Diaspora and returning professionals. Negotiated per mandate.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ANCHOR: Traditional headhunters charge 25 to 35% with no replacement guarantee. Our subscription plus placement model is structurally cheaper at any hire volume above 2 per year.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BUNDLE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The integrated stack: best per-naira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UNDER 50 BEDS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Boutique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N6M to N10M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Verified Profile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Annual leadership 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50 TO 150 BEDS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Foundation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N15M to N25M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5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Talent Search subscription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5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Quarterly leadership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2697480" cy="4023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94560"/>
            <a:ext cx="2697480" cy="274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128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150 TO 350 BEDS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Growth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N35M to N55M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8620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First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5196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Maarova Enterprise Cohort of 10 leaders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Executive retreat included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CadreHealth Workforce Intelligence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12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Half-yearly board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350+ BEDS / MULTI-SITE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Enterprise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From N75M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20+ leaders, multi-site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Two retreats per year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multi-facility deployment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25+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Dedicated CFA engagement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0B3C5D"/>
                </a:solidFill>
                <a:latin typeface="Calibri"/>
              </a:rPr>
              <a:t>Placements above the credit pool charged at standard 20 to 25% of first-year compensation. Bundle savings of 15 to 25% versus à la carte.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PAYBACK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The ROI math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Avoid one bad senior hire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N20M+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Foundation Stack: N12 to 18M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Pays for itself with one prevented mis-hire.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Reduce attrition by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N40M+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200-bed hospital, 600 staff at avg N1M/yr churn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Growth Stack pays back in under 12 months.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194560"/>
            <a:ext cx="3611880" cy="3474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94560"/>
            <a:ext cx="361188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4688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One leader who scales 3 more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00400"/>
            <a:ext cx="3154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You save</a:t>
            </a:r>
          </a:p>
          <a:p>
            <a:pPr algn="l">
              <a:spcBef>
                <a:spcPts val="200"/>
              </a:spcBef>
            </a:pPr>
            <a:r>
              <a:rPr sz="3200" b="1">
                <a:solidFill>
                  <a:srgbClr val="D4AF37"/>
                </a:solidFill>
                <a:latin typeface="Calibri"/>
              </a:rPr>
              <a:t>Compounding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38912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Cost of NOT developing top leadership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983480"/>
            <a:ext cx="31546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The compounding return that no benchmark fully captures.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B3C5D"/>
                </a:solidFill>
                <a:latin typeface="Calibri"/>
              </a:rPr>
              <a:t>Healthcare leadership and workforce decisions are not a cost line. They are the highest-leverage investment a hospital makes.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ENGAGEMENT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How we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Discovery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30-minute call. We understand your context. No deck on our end, just questions.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265176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1 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Light-touch leadership and workforce diagnostic. Combination of interviews and platform data.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Tailored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Stack recommendation with named coaches, scope, timeline, and fixed pricing in NGN.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377440"/>
            <a:ext cx="26974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2377440"/>
            <a:ext cx="26974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496312"/>
            <a:ext cx="2240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WEEK 4+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154680"/>
            <a:ext cx="22402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Phased 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840480"/>
            <a:ext cx="224028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Pilot with one cohort or facility. Scale based on signal. No multi-year lock-in.</a:t>
            </a:r>
          </a:p>
        </p:txBody>
      </p:sp>
      <p:sp>
        <p:nvSpPr>
          <p:cNvPr id="31" name="Oval 30"/>
          <p:cNvSpPr/>
          <p:nvPr/>
        </p:nvSpPr>
        <p:spPr>
          <a:xfrm>
            <a:off x="11155680" y="214884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0B3C5D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3C5D"/>
                </a:solidFill>
                <a:latin typeface="Calibri"/>
              </a:rPr>
              <a:t>No retainer. No multi-year commitment. You buy outcomes, not seat licenses.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Book a 30-minute discovery call.</a:t>
            </a:r>
          </a:p>
          <a:p>
            <a:pPr algn="l">
              <a:spcBef>
                <a:spcPts val="1500"/>
              </a:spcBef>
            </a:pPr>
            <a:r>
              <a:rPr sz="2200" b="0">
                <a:solidFill>
                  <a:srgbClr val="D4AF37"/>
                </a:solidFill>
                <a:latin typeface="Calibri"/>
              </a:rPr>
              <a:t>We will map your specific gaps and send a tailored proposal within 7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5029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Consult For Africa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consultforafrica.com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hello@consultforafrica.com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Maarova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consultforafrica.com/maarova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B3C5D"/>
                </a:solidFill>
                <a:latin typeface="Calibri"/>
              </a:rPr>
              <a:t>CadreHealth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consultforafrica.com/oncadre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D4AF37"/>
                </a:solidFill>
                <a:latin typeface="Calibri"/>
              </a:rPr>
              <a:t>African healthcare that runs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