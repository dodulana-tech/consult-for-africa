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INSERT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COMMERCIALS  /  ECONOMICS AND TRANSPARENCY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6424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0B3C5D"/>
                </a:solidFill>
                <a:latin typeface="Calibri"/>
              </a:rPr>
              <a:t>Where every naira goes: hospital, taxes, CFA, professional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73152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749039" cy="42519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3749039" cy="50292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347471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D4AF37"/>
                </a:solidFill>
                <a:latin typeface="Calibri"/>
              </a:rPr>
              <a:t>SENIOR FRACTIONAL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58568"/>
            <a:ext cx="347471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Fractional CMO at N5M / month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651760"/>
            <a:ext cx="3474719" cy="310896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2697480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Hospital invoice (ex VAT)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697480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N5,000,000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999232"/>
            <a:ext cx="3474719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035808"/>
            <a:ext cx="1645919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+ VAT 7.5% (input credit if registered)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79" y="3035808"/>
            <a:ext cx="1554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111827"/>
                </a:solidFill>
                <a:latin typeface="Calibri"/>
              </a:rPr>
              <a:t>N375,000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291840"/>
            <a:ext cx="3474719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328416"/>
            <a:ext cx="1645919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- WHT 10% (remitted to FIRS)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79" y="3328416"/>
            <a:ext cx="1554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111827"/>
                </a:solidFill>
                <a:latin typeface="Calibri"/>
              </a:rPr>
              <a:t>N500,000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657600"/>
            <a:ext cx="3474719" cy="31089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3703320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CFA platform fee (25%)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3703320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0B3C5D"/>
                </a:solidFill>
                <a:latin typeface="Calibri"/>
              </a:rPr>
              <a:t>N1,250,000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041648"/>
            <a:ext cx="3474719" cy="3108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4087368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Professional gross (contractor)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087368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N3,750,000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389120"/>
            <a:ext cx="3474719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4425696"/>
            <a:ext cx="1645919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- Professional own PIT (~25%)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79" y="4425696"/>
            <a:ext cx="1554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111827"/>
                </a:solidFill>
                <a:latin typeface="Calibri"/>
              </a:rPr>
              <a:t>N940,000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754880"/>
            <a:ext cx="3474719" cy="310896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4800600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Professional net cash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800600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N2,810,000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212080"/>
            <a:ext cx="347471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Senior contractor model. Professional invoices CFA, handles own taxes.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34839" y="2011680"/>
            <a:ext cx="3749039" cy="42519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34839" y="2011680"/>
            <a:ext cx="3749039" cy="50292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1999" y="2057400"/>
            <a:ext cx="347471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D4AF37"/>
                </a:solidFill>
                <a:latin typeface="Calibri"/>
              </a:rPr>
              <a:t>MID-LEVEL SECONDMENT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1999" y="2258568"/>
            <a:ext cx="347471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Finance Manager at N2M / month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1999" y="2651760"/>
            <a:ext cx="3474719" cy="310896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81727" y="2697480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Hospital invoice (ex VAT)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199" y="2697480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N2,000,000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1999" y="2999232"/>
            <a:ext cx="3474719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81727" y="3035808"/>
            <a:ext cx="1645919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+ VAT 7.5%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78" y="3035808"/>
            <a:ext cx="1554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111827"/>
                </a:solidFill>
                <a:latin typeface="Calibri"/>
              </a:rPr>
              <a:t>N150,000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1999" y="3291840"/>
            <a:ext cx="3474719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81727" y="3328416"/>
            <a:ext cx="1645919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- WHT 10% (FIRS)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78" y="3328416"/>
            <a:ext cx="1554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111827"/>
                </a:solidFill>
                <a:latin typeface="Calibri"/>
              </a:rPr>
              <a:t>N200,000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1999" y="3657600"/>
            <a:ext cx="3474719" cy="31089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81727" y="3703320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CFA platform fee (20%)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72199" y="3703320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0B3C5D"/>
                </a:solidFill>
                <a:latin typeface="Calibri"/>
              </a:rPr>
              <a:t>N400,000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1999" y="4005072"/>
            <a:ext cx="3474719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81727" y="4041648"/>
            <a:ext cx="1645919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Employer pension + NSITF + ITF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78" y="4041648"/>
            <a:ext cx="1554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111827"/>
                </a:solidFill>
                <a:latin typeface="Calibri"/>
              </a:rPr>
              <a:t>N190,000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1999" y="4370832"/>
            <a:ext cx="3474719" cy="3108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81727" y="4416552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Professional gross salary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72199" y="4416552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N1,410,000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1999" y="4718304"/>
            <a:ext cx="3474719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81727" y="4754880"/>
            <a:ext cx="1645919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- PAYE + pension + NHIS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5078" y="4754880"/>
            <a:ext cx="1554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111827"/>
                </a:solidFill>
                <a:latin typeface="Calibri"/>
              </a:rPr>
              <a:t>N390,000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1999" y="5084064"/>
            <a:ext cx="3474719" cy="310896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81727" y="5129784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Professional take-home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72199" y="5129784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N1,020,000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1999" y="5541264"/>
            <a:ext cx="347471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CFA is employer of record. Full statutory compliance handled.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21038" y="2011680"/>
            <a:ext cx="3749039" cy="42519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321038" y="2011680"/>
            <a:ext cx="3749039" cy="5029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58198" y="2057400"/>
            <a:ext cx="347471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0B3C5D"/>
                </a:solidFill>
                <a:latin typeface="Calibri"/>
              </a:rPr>
              <a:t>LOCUM CLINICAL COVER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58198" y="2258568"/>
            <a:ext cx="347471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0B3C5D"/>
                </a:solidFill>
                <a:latin typeface="Calibri"/>
              </a:rPr>
              <a:t>Medical Officer shift at N35K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458198" y="2651760"/>
            <a:ext cx="3474719" cy="310896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67926" y="2697480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Hospital pays per shift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58398" y="2697480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N35,000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458198" y="2999232"/>
            <a:ext cx="3474719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567926" y="3035808"/>
            <a:ext cx="1645919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- WHT 5% (individual, FIRS)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241277" y="3035808"/>
            <a:ext cx="1554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111827"/>
                </a:solidFill>
                <a:latin typeface="Calibri"/>
              </a:rPr>
              <a:t>N1,750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58198" y="3364992"/>
            <a:ext cx="3474719" cy="31089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567926" y="3410712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CFA platform margin (12%)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058398" y="3410712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0B3C5D"/>
                </a:solidFill>
                <a:latin typeface="Calibri"/>
              </a:rPr>
              <a:t>N4,200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458198" y="3749040"/>
            <a:ext cx="3474719" cy="310896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567926" y="3794760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Professional payout (instant)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58398" y="3794760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N29,050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458198" y="4096512"/>
            <a:ext cx="3474719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67926" y="4133088"/>
            <a:ext cx="1645919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Indemnity (Turaco) bundled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241277" y="4133088"/>
            <a:ext cx="1554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111827"/>
                </a:solidFill>
                <a:latin typeface="Calibri"/>
              </a:rPr>
              <a:t>Included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458198" y="4389120"/>
            <a:ext cx="3474719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567926" y="4425696"/>
            <a:ext cx="1645919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111827"/>
                </a:solidFill>
                <a:latin typeface="Calibri"/>
              </a:rPr>
              <a:t>Professional own annual PIT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241277" y="4425696"/>
            <a:ext cx="15544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1">
                <a:solidFill>
                  <a:srgbClr val="111827"/>
                </a:solidFill>
                <a:latin typeface="Calibri"/>
              </a:rPr>
              <a:t>Self-managed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458198" y="4754880"/>
            <a:ext cx="3474719" cy="310896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567926" y="4800600"/>
            <a:ext cx="1463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Net cash to professional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058398" y="4800600"/>
            <a:ext cx="17373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</a:rPr>
              <a:t>N29,050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458198" y="5212080"/>
            <a:ext cx="3474719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Per-shift contractor. Paid via Paystack within 24 hours of shift.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6400800"/>
            <a:ext cx="12191695" cy="18288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8640" y="6400800"/>
            <a:ext cx="110642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Statutory taxes (VAT, WHT, PAYE, pension) flow to government and pension funds. CFA fee covers sourcing, vetting, payroll, indemnity, and ongoing support.</a:t>
            </a:r>
          </a:p>
        </p:txBody>
      </p:sp>
      <p:sp>
        <p:nvSpPr>
          <p:cNvPr id="91" name="Rectangle 9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consultforafrica.com  |  Maarova  |  CadreHealth  |  Indicative figures, subject to engagement specifics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