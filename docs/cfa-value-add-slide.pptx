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1">
                <a:solidFill>
                  <a:srgbClr val="D4AF37"/>
                </a:solidFill>
                <a:latin typeface="Calibri"/>
              </a:rPr>
              <a:t>INSERT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1064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COMMERCIALS  /  WHY THE CFA FEE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1106424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0B3C5D"/>
                </a:solidFill>
                <a:latin typeface="Calibri"/>
              </a:rPr>
              <a:t>What our fee actually pays for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73152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11064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Calibri"/>
              </a:rPr>
              <a:t>Four layers of value the hospital does not build, hire, or carry alone.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31720"/>
            <a:ext cx="269748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331720"/>
            <a:ext cx="2697480" cy="64008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77440"/>
            <a:ext cx="5486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377440"/>
            <a:ext cx="2057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Vetted Network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715768"/>
            <a:ext cx="24231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D4AF37"/>
                </a:solidFill>
                <a:latin typeface="Calibri"/>
              </a:rPr>
              <a:t>We have already done the sourcing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108960"/>
            <a:ext cx="2423160" cy="187451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• 4,300+ healthcare professionals, 16 cadres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Senior CFA consultant bench across functions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ICF-credentialed coaching panel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License verified, reference checked, ID confirmed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Skip the 6 to 12 month recruitment cycle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2331720"/>
            <a:ext cx="269748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83280" y="2331720"/>
            <a:ext cx="2697480" cy="640080"/>
          </a:xfrm>
          <a:prstGeom prst="rect">
            <a:avLst/>
          </a:prstGeom>
          <a:solidFill>
            <a:srgbClr val="1F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377440"/>
            <a:ext cx="5486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2377440"/>
            <a:ext cx="2057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Statutory Machinery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715768"/>
            <a:ext cx="24231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D4AF37"/>
                </a:solidFill>
                <a:latin typeface="Calibri"/>
              </a:rPr>
              <a:t>Payroll, tax, pension, indemnity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3108960"/>
            <a:ext cx="2423160" cy="187451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• PAYE, pension, NHIS, NSITF, ITF, VAT, WHT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FIRS remittance and audit-ready records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Indemnity cover bundled (Turaco)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NDPR-compliant data handling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Contracts, IP, and exit management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331720"/>
            <a:ext cx="269748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2331720"/>
            <a:ext cx="2697480" cy="64008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2377440"/>
            <a:ext cx="5486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2377440"/>
            <a:ext cx="2057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Risk Backstop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715768"/>
            <a:ext cx="24231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D4AF37"/>
                </a:solidFill>
                <a:latin typeface="Calibri"/>
              </a:rPr>
              <a:t>We carry the wrong-hire 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108960"/>
            <a:ext cx="2423160" cy="187451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• Replacement guarantee on every engagement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Performance accountability we own, not pass through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Escalation line to CFA partners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Substitute cover for cancelled locum shifts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If it goes wrong, it is our problem to fix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52560" y="2331720"/>
            <a:ext cx="2697480" cy="27432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52560" y="2331720"/>
            <a:ext cx="2697480" cy="640080"/>
          </a:xfrm>
          <a:prstGeom prst="rect">
            <a:avLst/>
          </a:prstGeom>
          <a:solidFill>
            <a:srgbClr val="14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9720" y="2377440"/>
            <a:ext cx="5486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D4AF37"/>
                </a:solidFill>
                <a:latin typeface="Calibri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2377440"/>
            <a:ext cx="2057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Institutional Capability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2715768"/>
            <a:ext cx="24231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D4AF37"/>
                </a:solidFill>
                <a:latin typeface="Calibri"/>
              </a:rPr>
              <a:t>You hire the firm, not one person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3108960"/>
            <a:ext cx="2423160" cy="187451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• Playbooks and frameworks the consultant brings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Cross-portfolio learning from other engagements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Coaching and development during placement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Advisory access from CFA partners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Knowledge stays even when the person changes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212080"/>
            <a:ext cx="11064240" cy="384048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276088"/>
            <a:ext cx="106070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D4AF37"/>
                </a:solidFill>
                <a:latin typeface="Calibri"/>
              </a:rPr>
              <a:t>VS. THE ALTERNATIVES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596128"/>
            <a:ext cx="2743200" cy="29260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5641848"/>
            <a:ext cx="256032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WHAT YOU NEED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91840" y="5596128"/>
            <a:ext cx="2743200" cy="29260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01568" y="5641848"/>
            <a:ext cx="256032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HIRE DIRECT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35040" y="5596128"/>
            <a:ext cx="2788920" cy="29260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44768" y="5641848"/>
            <a:ext cx="26060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TRADITIONAL AGENCY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823960" y="5596128"/>
            <a:ext cx="2788920" cy="29260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33688" y="5641848"/>
            <a:ext cx="260604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WITH CFA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888736"/>
            <a:ext cx="274320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5925312"/>
            <a:ext cx="25603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Time to fill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91840" y="5888736"/>
            <a:ext cx="274320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01568" y="5925312"/>
            <a:ext cx="25603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6 to 12 months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35040" y="5888736"/>
            <a:ext cx="278892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44768" y="5925312"/>
            <a:ext cx="260604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2 to 3 months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823960" y="5888736"/>
            <a:ext cx="2788920" cy="24688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933688" y="5925312"/>
            <a:ext cx="260604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2 to 4 weeks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6135624"/>
            <a:ext cx="2743200" cy="24688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8368" y="6172200"/>
            <a:ext cx="25603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Compliance burden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91840" y="6135624"/>
            <a:ext cx="2743200" cy="24688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401568" y="6172200"/>
            <a:ext cx="25603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All yours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35040" y="6135624"/>
            <a:ext cx="2788920" cy="24688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44768" y="6172200"/>
            <a:ext cx="260604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All yours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823960" y="6135624"/>
            <a:ext cx="2788920" cy="24688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933688" y="6172200"/>
            <a:ext cx="260604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All ours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" y="6382512"/>
            <a:ext cx="274320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8368" y="6419088"/>
            <a:ext cx="25603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Replacement risk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91840" y="6382512"/>
            <a:ext cx="274320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401568" y="6419088"/>
            <a:ext cx="25603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All yours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35040" y="6382512"/>
            <a:ext cx="2788920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44768" y="6419088"/>
            <a:ext cx="260604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Yours after 90 days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823960" y="6382512"/>
            <a:ext cx="2788920" cy="24688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933688" y="6419088"/>
            <a:ext cx="260604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Ours, ongoing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8640" y="6629400"/>
            <a:ext cx="2743200" cy="24688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8368" y="6665976"/>
            <a:ext cx="25603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Senior capability part-time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91840" y="6629400"/>
            <a:ext cx="2743200" cy="24688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401568" y="6665976"/>
            <a:ext cx="256032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Not possible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035040" y="6629400"/>
            <a:ext cx="2788920" cy="24688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144768" y="6665976"/>
            <a:ext cx="260604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Rare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823960" y="6629400"/>
            <a:ext cx="2788920" cy="246888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933688" y="6665976"/>
            <a:ext cx="2606040" cy="20116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0B3C5D"/>
                </a:solidFill>
                <a:latin typeface="Calibri"/>
              </a:rPr>
              <a:t>Standard offering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4864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Maarova  |  CadreHealth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